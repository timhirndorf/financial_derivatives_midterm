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341" r:id="rId2"/>
    <p:sldId id="342" r:id="rId3"/>
    <p:sldId id="343" r:id="rId4"/>
    <p:sldId id="344" r:id="rId5"/>
    <p:sldId id="345" r:id="rId6"/>
    <p:sldId id="346" r:id="rId7"/>
    <p:sldId id="347" r:id="rId8"/>
    <p:sldId id="348" r:id="rId9"/>
    <p:sldId id="349" r:id="rId10"/>
    <p:sldId id="350" r:id="rId11"/>
    <p:sldId id="351" r:id="rId12"/>
    <p:sldId id="352" r:id="rId13"/>
    <p:sldId id="353" r:id="rId14"/>
    <p:sldId id="354" r:id="rId15"/>
    <p:sldId id="355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390"/>
    <p:restoredTop sz="77790"/>
  </p:normalViewPr>
  <p:slideViewPr>
    <p:cSldViewPr snapToGrid="0" snapToObjects="1">
      <p:cViewPr varScale="1">
        <p:scale>
          <a:sx n="108" d="100"/>
          <a:sy n="108" d="100"/>
        </p:scale>
        <p:origin x="216" y="3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373383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1" dirty="0"/>
              <a:t>[Speaker 1 | 0:15]</a:t>
            </a:r>
          </a:p>
          <a:p>
            <a:r>
              <a:rPr lang="en-GB" sz="1200" dirty="0"/>
              <a:t>Introduce the group and the topic.</a:t>
            </a:r>
          </a:p>
          <a:p>
            <a:r>
              <a:rPr lang="en-GB" sz="1200" dirty="0"/>
              <a:t>One European call: S0 = K = 100, T = 1 year, σ = 20%, r = 3.94% (1-month T-bill), GBM, no dividends.</a:t>
            </a:r>
          </a:p>
          <a:p>
            <a:r>
              <a:rPr lang="en-GB" sz="1200" dirty="0"/>
              <a:t>Hand over straight to the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1" dirty="0"/>
              <a:t>[Speaker 1 | 0:30]</a:t>
            </a:r>
          </a:p>
          <a:p>
            <a:r>
              <a:rPr lang="en-GB" sz="1200" dirty="0"/>
              <a:t>One option, three questions: these are the three parts of the brief.</a:t>
            </a:r>
          </a:p>
          <a:p>
            <a:r>
              <a:rPr lang="en-GB" sz="1200" dirty="0"/>
              <a:t>Pricing: Black-Scholes, Monte Carlo and a binomial tree, plus convergence and uncertainty.</a:t>
            </a:r>
          </a:p>
          <a:p>
            <a:r>
              <a:rPr lang="en-GB" sz="1200" dirty="0"/>
              <a:t>Replication: delta hedge along MC paths and explain the hedging error.</a:t>
            </a:r>
          </a:p>
          <a:p>
            <a:r>
              <a:rPr lang="en-GB" sz="1200" dirty="0"/>
              <a:t>Greeks: delta, gamma, vega with all three methods.</a:t>
            </a:r>
          </a:p>
          <a:p>
            <a:r>
              <a:rPr lang="en-GB" sz="1200" dirty="0"/>
              <a:t>Black-Scholes is the benchmark for everything.</a:t>
            </a:r>
          </a:p>
          <a:p>
            <a:r>
              <a:rPr lang="en-GB" sz="1200" dirty="0"/>
              <a:t>Running theme: what the results depend on, and what they do not depend on (the drift μ).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1" dirty="0"/>
              <a:t>[Speaker 1 | 0:50]</a:t>
            </a:r>
          </a:p>
          <a:p>
            <a:r>
              <a:rPr lang="en-GB" sz="1200" dirty="0"/>
              <a:t>"Remember" the lecture: Ito on C, choose Δ = ∂C/∂S so dz cancels, riskless portfolio earns r → PDE (1). μ drops out.</a:t>
            </a:r>
          </a:p>
          <a:p>
            <a:r>
              <a:rPr lang="en-GB" sz="1200" dirty="0"/>
              <a:t>Feynman-Kac: the solution of (1) is the discounted risk-neutral expectation (2).</a:t>
            </a:r>
          </a:p>
          <a:p>
            <a:r>
              <a:rPr lang="en-GB" sz="1200" dirty="0"/>
              <a:t>Black-Scholes solves (1) in closed form (h1 = 0.297, h2 = 0.097).</a:t>
            </a:r>
          </a:p>
          <a:p>
            <a:r>
              <a:rPr lang="en-GB" sz="1200" dirty="0"/>
              <a:t>Monte Carlo samples S_T exactly from the lognormal, so no time-discretisation bias.</a:t>
            </a:r>
          </a:p>
          <a:p>
            <a:r>
              <a:rPr lang="en-GB" sz="1200" dirty="0"/>
              <a:t>The tree enumerates outcomes on an up/down lattice.</a:t>
            </a:r>
          </a:p>
          <a:p>
            <a:r>
              <a:rPr lang="en-GB" sz="1200" dirty="0"/>
              <a:t>KEY LINE: "All three compute the same number, so they must agree. What differs is speed and the type of error."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1" dirty="0"/>
              <a:t>[Speaker 1 | 0:40]</a:t>
            </a:r>
          </a:p>
          <a:p>
            <a:r>
              <a:rPr lang="en-GB" sz="1200" dirty="0"/>
              <a:t>Walk the table: BS 9.8940 exact.</a:t>
            </a:r>
          </a:p>
          <a:p>
            <a:r>
              <a:rPr lang="en-GB" sz="1200" dirty="0"/>
              <a:t>MC with 10^8 paths: 9.8959, +0.0020, SE 0.0014. BS lies inside the 95% CI.</a:t>
            </a:r>
          </a:p>
          <a:p>
            <a:r>
              <a:rPr lang="en-GB" sz="1200" dirty="0"/>
              <a:t>Tree with 10,000 steps: 9.8938, −0.0002.</a:t>
            </a:r>
          </a:p>
          <a:p>
            <a:r>
              <a:rPr lang="en-GB" sz="1200" dirty="0"/>
              <a:t>Parity (one line): the tree is linear in the payoff and prices the forward exactly, so call minus put has no error.</a:t>
            </a:r>
          </a:p>
          <a:p>
            <a:r>
              <a:rPr lang="en-GB" sz="1200" dirty="0"/>
              <a:t>KEY LINE: "Every engine lands within a quarter of a cent."</a:t>
            </a:r>
          </a:p>
          <a:p>
            <a:r>
              <a:rPr lang="en-GB" sz="1200" dirty="0"/>
              <a:t>→ Hand over to Speaker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1" dirty="0"/>
              <a:t>[Speaker 2 | 1:15]</a:t>
            </a:r>
          </a:p>
          <a:p>
            <a:r>
              <a:rPr lang="en-GB" sz="1200" dirty="0"/>
              <a:t>How to read the plots: log-log; error = c·N^(−k) gives a straight line with slope −k.</a:t>
            </a:r>
          </a:p>
          <a:p>
            <a:r>
              <a:rPr lang="en-GB" sz="1200" dirty="0"/>
              <a:t>MC: SE = s/√M with s ≈ 14 (CLT). Halving the error needs 4× the paths. SE 1.0 / 0.014 / 0.0014 at 10^2 / 10^6 / 10^8. Grey dots = actual |MC − BS|, scattering around the SE line.</a:t>
            </a:r>
          </a:p>
          <a:p>
            <a:r>
              <a:rPr lang="en-GB" sz="1200" dirty="0"/>
              <a:t>Tree: CRR matches mean and variance per step; binomial log S_T → Gaussian; error ∝ 1/N (1.8 / 0.02 / 0.002 / 0.0002 at N = 1 / 100 / 1,000 / 10,000).</a:t>
            </a:r>
          </a:p>
          <a:p>
            <a:r>
              <a:rPr lang="en-GB" sz="1200" dirty="0"/>
              <a:t>Zig-zag: K = 100 falls on a node or between nodes depending on odd/even N.</a:t>
            </a:r>
          </a:p>
          <a:p>
            <a:r>
              <a:rPr lang="en-GB" sz="1200" dirty="0"/>
              <a:t>10× effort: MC 3.2× smaller error, tree 10×.</a:t>
            </a:r>
          </a:p>
          <a:p>
            <a:r>
              <a:rPr lang="en-GB" sz="1200" dirty="0"/>
              <a:t>But MC is the most flexible: path-dependent payoffs, many underlyings.</a:t>
            </a:r>
          </a:p>
          <a:p>
            <a:r>
              <a:rPr lang="en-GB" sz="1200" dirty="0"/>
              <a:t>KEY LINE: "Same answer, very different speed. The slope is the order of convergence."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1" dirty="0"/>
              <a:t>[Speaker 2 | 0:50]</a:t>
            </a:r>
          </a:p>
          <a:p>
            <a:r>
              <a:rPr lang="en-GB" sz="1200" dirty="0"/>
              <a:t>MC error is statistical: random, unbiased, so we give a confidence interval (Ĉ ± 1.96 SE).</a:t>
            </a:r>
          </a:p>
          <a:p>
            <a:r>
              <a:rPr lang="en-GB" sz="1200" dirty="0"/>
              <a:t>Tree error is discretisation: deterministic bias, same settings give the same price, size known from the 1/N rate.</a:t>
            </a:r>
          </a:p>
          <a:p>
            <a:r>
              <a:rPr lang="en-GB" sz="1200" dirty="0"/>
              <a:t>Ask the room: "Which error is the largest?" Pause.</a:t>
            </a:r>
          </a:p>
          <a:p>
            <a:r>
              <a:rPr lang="en-GB" sz="1200" dirty="0"/>
              <a:t>Answer: neither. Vega = 38.17, so 1 vol point moves the price by 0.38, about 200× the MC standard error.</a:t>
            </a:r>
          </a:p>
          <a:p>
            <a:r>
              <a:rPr lang="en-GB" sz="1200" dirty="0"/>
              <a:t>Also: every number assumes GBM with constant σ and r.</a:t>
            </a:r>
          </a:p>
          <a:p>
            <a:r>
              <a:rPr lang="en-GB" sz="1200" dirty="0"/>
              <a:t>BRIDGE: "Our numerical errors are tiny. The real uncertainty is the volatility we put in, and that is what hedging is about."</a:t>
            </a:r>
          </a:p>
          <a:p>
            <a:r>
              <a:rPr lang="en-GB" sz="1200" dirty="0"/>
              <a:t>→ Hand over to Speaker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1" dirty="0"/>
              <a:t>[Speaker 3 | 1:10]</a:t>
            </a:r>
          </a:p>
          <a:p>
            <a:r>
              <a:rPr lang="en-GB" sz="1200" dirty="0"/>
              <a:t>Strategy: sell the call at 9.894, hold Δ = N(h1) ≈ 0.62 shares, rest in the bank; rebalance, self-financing.</a:t>
            </a:r>
          </a:p>
          <a:p>
            <a:r>
              <a:rPr lang="en-GB" sz="1200" dirty="0"/>
              <a:t>Paths use the real-world drift μ, not r.</a:t>
            </a:r>
          </a:p>
          <a:p>
            <a:r>
              <a:rPr lang="en-GB" sz="1200" dirty="0"/>
              <a:t>ε = portfolio minus payoff at expiry: positive = surplus, negative = shortfall.</a:t>
            </a:r>
          </a:p>
          <a:p>
            <a:r>
              <a:rPr lang="en-GB" sz="1200" dirty="0"/>
              <a:t>Daily rebalancing: mean 0.002, std 0.44, about 4.4% of the premium.</a:t>
            </a:r>
          </a:p>
          <a:p>
            <a:r>
              <a:rPr lang="en-GB" sz="1200" dirty="0"/>
              <a:t>Table: 4× more rebalancing only halves the std (slope −½ on the right plot).</a:t>
            </a:r>
          </a:p>
          <a:p>
            <a:r>
              <a:rPr lang="en-GB" sz="1200" dirty="0"/>
              <a:t>KEY LINE: "On average the hedge works. Path by path it misses, and four times more trading only halves the miss. Why?"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1" dirty="0"/>
              <a:t>[Speaker 3 | 1:45]  (longest slide, rehearse it)</a:t>
            </a:r>
          </a:p>
          <a:p>
            <a:r>
              <a:rPr lang="en-GB" sz="1200" dirty="0"/>
              <a:t>Step 1: Ito/Taylor to second order.</a:t>
            </a:r>
          </a:p>
          <a:p>
            <a:r>
              <a:rPr lang="en-GB" sz="1200" dirty="0"/>
              <a:t>Step 2: self-financing portfolio earns ΔdS plus interest on the cash.</a:t>
            </a:r>
          </a:p>
          <a:p>
            <a:r>
              <a:rPr lang="en-GB" sz="1200" dirty="0"/>
              <a:t>Step 3: substitute the PDE: theta and gamma are tied together.</a:t>
            </a:r>
          </a:p>
          <a:p>
            <a:r>
              <a:rPr lang="en-GB" sz="1200" dirty="0"/>
              <a:t>Step 4: equation (3) = variance we were paid for minus variance delivered.</a:t>
            </a:r>
          </a:p>
          <a:p>
            <a:r>
              <a:rPr lang="en-GB" sz="1200" dirty="0"/>
              <a:t>Mean 0 because E[(dS/S)²] = σ²dt.</a:t>
            </a:r>
          </a:p>
          <a:p>
            <a:r>
              <a:rPr lang="en-GB" sz="1200" dirty="0"/>
              <a:t>Std ∝ 1/√N: each step adds noise of order dt; N steps → variance N·dt² ∝ 1/N.</a:t>
            </a:r>
          </a:p>
          <a:p>
            <a:r>
              <a:rPr lang="en-GB" sz="1200" dirty="0"/>
              <a:t>μ does not appear: drift does not matter.</a:t>
            </a:r>
          </a:p>
          <a:p>
            <a:r>
              <a:rPr lang="en-GB" sz="1200" dirty="0"/>
              <a:t>As dt → 0, (dS)² → σ²S²dt and ε → 0: this is the Black-Scholes argument itself.</a:t>
            </a:r>
          </a:p>
          <a:p>
            <a:r>
              <a:rPr lang="en-GB" sz="1200" dirty="0"/>
              <a:t>Derman-Kamal check: 6.77/√N matches our simulated std.</a:t>
            </a:r>
          </a:p>
          <a:p>
            <a:r>
              <a:rPr lang="en-GB" sz="1200" dirty="0"/>
              <a:t>KEY LINE: "After delta hedging, what is left is a bet on volatility."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1" dirty="0"/>
              <a:t>[Speaker 3 | 1:15]</a:t>
            </a:r>
          </a:p>
          <a:p>
            <a:r>
              <a:rPr lang="en-GB" sz="1200" dirty="0"/>
              <a:t>Use (3) as a checklist.</a:t>
            </a:r>
          </a:p>
          <a:p>
            <a:r>
              <a:rPr lang="en-GB" sz="1200" dirty="0"/>
              <a:t>Frequency: std ∝ 1/√N; quarterly gives 3.2, a third of the premium.</a:t>
            </a:r>
          </a:p>
          <a:p>
            <a:r>
              <a:rPr lang="en-GB" sz="1200" dirty="0"/>
              <a:t>Where the path goes: ΓS² is largest near K close to expiry, so paths ending near the strike have the biggest errors.</a:t>
            </a:r>
          </a:p>
          <a:p>
            <a:r>
              <a:rPr lang="en-GB" sz="1200" dirty="0"/>
              <a:t>Delivered vol: show the table and histograms. Real vol &gt; 20% → systematic loss; &lt; 20% → gain. About ±2 per 5 vol points; check Vega × 0.05 = 1.91.</a:t>
            </a:r>
          </a:p>
          <a:p>
            <a:r>
              <a:rPr lang="en-GB" sz="1200" dirty="0"/>
              <a:t>Drift: mean ≈ 0 for μ = 0, 5, 10, 20%.</a:t>
            </a:r>
          </a:p>
          <a:p>
            <a:r>
              <a:rPr lang="en-GB" sz="1200" dirty="0"/>
              <a:t>Works: frequent trading, right σ, no jumps. Fails: rare trading, wrong σ, S near K near expiry; in practice also transaction costs (trade-off with 1/√N), jumps, stochastic vol.</a:t>
            </a:r>
          </a:p>
          <a:p>
            <a:r>
              <a:rPr lang="en-GB" sz="1200" dirty="0"/>
              <a:t>KEY LINE: "Wrong volatility turns noise into a systematic loss. The variance delivered is the BIG problem."</a:t>
            </a:r>
          </a:p>
          <a:p>
            <a:r>
              <a:rPr lang="en-GB" sz="1200" dirty="0"/>
              <a:t>→ Hand over to Speaker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1" dirty="0"/>
              <a:t>[Speaker 4 | 1:00]</a:t>
            </a:r>
          </a:p>
          <a:p>
            <a:r>
              <a:rPr lang="en-GB" sz="1200" dirty="0"/>
              <a:t>All methods agree to 3–4 digits; MC within 0.5 SE of BS.</a:t>
            </a:r>
          </a:p>
          <a:p>
            <a:r>
              <a:rPr lang="en-GB" sz="1200" dirty="0"/>
              <a:t>Delta 0.62: hedge ratio, hold 0.62 shares per call.</a:t>
            </a:r>
          </a:p>
          <a:p>
            <a:r>
              <a:rPr lang="en-GB" sz="1200" dirty="0"/>
              <a:t>Gamma 0.019: delta change per 1 move in S; highest near the strike → hardest to hedge.</a:t>
            </a:r>
          </a:p>
          <a:p>
            <a:r>
              <a:rPr lang="en-GB" sz="1200" dirty="0"/>
              <a:t>Vega 38.17 per 1.00 of vol = 0.38 per vol point.</a:t>
            </a:r>
          </a:p>
          <a:p>
            <a:r>
              <a:rPr lang="en-GB" sz="1200" dirty="0"/>
              <a:t>Ask: "At the money, why is delta 0.62 and not 0.5?" Pause.</a:t>
            </a:r>
          </a:p>
          <a:p>
            <a:r>
              <a:rPr lang="en-GB" sz="1200" dirty="0"/>
              <a:t>Answer: h1 = 0.297 &gt; 0; forward 104 &gt; K and the lognormal is right-skewed. Delta is not the exercise probability: N(h2) = 0.54.</a:t>
            </a:r>
          </a:p>
          <a:p>
            <a:r>
              <a:rPr lang="en-GB" sz="1200" dirty="0"/>
              <a:t>If asked why Δ = N(h1): backup B2.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1" dirty="0"/>
              <a:t>[Speaker 4 | 0:55]</a:t>
            </a:r>
          </a:p>
          <a:p>
            <a:r>
              <a:rPr lang="en-GB" sz="1200" dirty="0"/>
              <a:t>Tree: delta and gamma for free from the first nodes, same as one-period replication. Vega needs two extra trees with σ bumped. Error ∝ 1/N.</a:t>
            </a:r>
          </a:p>
          <a:p>
            <a:r>
              <a:rPr lang="en-GB" sz="1200" dirty="0"/>
              <a:t>MC: no derivative to read off, so bump and reprice with the same random numbers (common random numbers make the noise cancel).</a:t>
            </a:r>
          </a:p>
          <a:p>
            <a:r>
              <a:rPr lang="en-GB" sz="1200" dirty="0"/>
              <a:t>Gamma trade-off: bias ∝ h², variance ∝ 1/h, since only paths ending near K contribute. Point to the plot; we use h = 1.</a:t>
            </a:r>
          </a:p>
          <a:p>
            <a:r>
              <a:rPr lang="en-GB" sz="1200" dirty="0"/>
              <a:t>Gamma has about 6× the relative error of delta.</a:t>
            </a:r>
          </a:p>
          <a:p>
            <a:r>
              <a:rPr lang="en-GB" sz="1200" dirty="0"/>
              <a:t>If asked: pathwise and likelihood-ratio estimators exist.</a:t>
            </a:r>
          </a:p>
          <a:p>
            <a:r>
              <a:rPr lang="en-GB" sz="1200" dirty="0"/>
              <a:t>KEY LINE: "The tree gets Greeks almost for free. Monte Carlo has to difference noisy numbers, and gamma suffers most."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1" dirty="0"/>
              <a:t>[Speaker 4 | 0:40]</a:t>
            </a:r>
          </a:p>
          <a:p>
            <a:r>
              <a:rPr lang="en-GB" sz="1200" dirty="0"/>
              <a:t>Read the headline statement.</a:t>
            </a:r>
          </a:p>
          <a:p>
            <a:r>
              <a:rPr lang="en-GB" sz="1200" dirty="0"/>
              <a:t>Pricing: one line, convergence orders ½ and 1; numerical error small next to vega.</a:t>
            </a:r>
          </a:p>
          <a:p>
            <a:r>
              <a:rPr lang="en-GB" sz="1200" dirty="0"/>
              <a:t>Replication: hedging error = ½ΓS² × (implied − realised variance); zero mean with the right σ, systematic with the wrong one; not the drift.</a:t>
            </a:r>
          </a:p>
          <a:p>
            <a:r>
              <a:rPr lang="en-GB" sz="1200" dirty="0"/>
              <a:t>Greeks: gamma and vega peak near the strike, where hedging is hardest.</a:t>
            </a:r>
          </a:p>
          <a:p>
            <a:r>
              <a:rPr lang="en-GB" sz="1200" dirty="0"/>
              <a:t>Close: "Thank you. Questions?"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1" dirty="0"/>
              <a:t>Q&amp;A only. Do not present; jump here when a question needs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1" dirty="0"/>
              <a:t>Q&amp;A only.</a:t>
            </a:r>
          </a:p>
          <a:p>
            <a:r>
              <a:rPr lang="en-GB" sz="1200" dirty="0"/>
              <a:t>B1: use if asked whether the hedging std is plausible. Derman-Kamal 6.77/√N vs our simulation.</a:t>
            </a:r>
          </a:p>
          <a:p>
            <a:r>
              <a:rPr lang="en-GB" sz="1200" dirty="0"/>
              <a:t>B2: use if asked why Δ = N(h1). The extra terms cancel because Sφ(h1) = Ke^(−rT)φ(h2).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1" dirty="0"/>
              <a:t>Q&amp;A only.</a:t>
            </a:r>
          </a:p>
          <a:p>
            <a:r>
              <a:rPr lang="en-GB" sz="1200" dirty="0"/>
              <a:t>B3: MC standard error and confidence interval (s ≈ 14, CLT, exact lognormal sampling).</a:t>
            </a:r>
          </a:p>
          <a:p>
            <a:r>
              <a:rPr lang="en-GB" sz="1200" dirty="0"/>
              <a:t>B4: CRR parameters, why they match mean and variance, and the odd/even oscillation.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F19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440680"/>
            <a:ext cx="1051560" cy="1417320"/>
          </a:xfrm>
          <a:prstGeom prst="rect">
            <a:avLst/>
          </a:prstGeom>
          <a:solidFill>
            <a:srgbClr val="32B496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Text 1"/>
          <p:cNvSpPr txBox="1"/>
          <p:nvPr/>
        </p:nvSpPr>
        <p:spPr>
          <a:xfrm>
            <a:off x="1389888" y="2084117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FF9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Dr. Rebonato</a:t>
            </a:r>
            <a:endParaRPr lang="en-US" sz="1500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A0A7F51-48EF-955E-95B4-787AD7F365A5}"/>
              </a:ext>
            </a:extLst>
          </p:cNvPr>
          <p:cNvGrpSpPr/>
          <p:nvPr/>
        </p:nvGrpSpPr>
        <p:grpSpPr>
          <a:xfrm>
            <a:off x="1344168" y="2606040"/>
            <a:ext cx="9601200" cy="1645920"/>
            <a:chOff x="1344168" y="1828800"/>
            <a:chExt cx="9601200" cy="1645920"/>
          </a:xfrm>
        </p:grpSpPr>
        <p:sp>
          <p:nvSpPr>
            <p:cNvPr id="4" name="Text 2"/>
            <p:cNvSpPr txBox="1"/>
            <p:nvPr/>
          </p:nvSpPr>
          <p:spPr>
            <a:xfrm>
              <a:off x="1344168" y="1828800"/>
              <a:ext cx="9601200" cy="8686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54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Financial Derivatives</a:t>
              </a:r>
              <a:endParaRPr lang="en-US" sz="5400" dirty="0"/>
            </a:p>
          </p:txBody>
        </p:sp>
        <p:sp>
          <p:nvSpPr>
            <p:cNvPr id="5" name="Text 3"/>
            <p:cNvSpPr txBox="1"/>
            <p:nvPr/>
          </p:nvSpPr>
          <p:spPr>
            <a:xfrm>
              <a:off x="1344168" y="2606040"/>
              <a:ext cx="9601200" cy="8686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5400" b="1" dirty="0">
                  <a:solidFill>
                    <a:srgbClr val="32B49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Midterm</a:t>
              </a:r>
              <a:endParaRPr lang="en-US" sz="5400" dirty="0"/>
            </a:p>
          </p:txBody>
        </p:sp>
      </p:grpSp>
      <p:sp>
        <p:nvSpPr>
          <p:cNvPr id="7" name="Text 5"/>
          <p:cNvSpPr txBox="1"/>
          <p:nvPr/>
        </p:nvSpPr>
        <p:spPr>
          <a:xfrm>
            <a:off x="1389888" y="5120640"/>
            <a:ext cx="9555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dirty="0">
                <a:solidFill>
                  <a:srgbClr val="EDE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Augustin Lemarquand, Bob Hunold, Melody Cohen, Kristina Mihaylova, Consantin Schmidt-Chiari, Tobias Rungg, Elliot jonsson Tim Hirndorf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7287057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38912"/>
            <a:ext cx="420624" cy="420624"/>
          </a:xfrm>
          <a:prstGeom prst="rect">
            <a:avLst/>
          </a:prstGeom>
          <a:solidFill>
            <a:srgbClr val="32B496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Text 1"/>
          <p:cNvSpPr txBox="1"/>
          <p:nvPr/>
        </p:nvSpPr>
        <p:spPr>
          <a:xfrm>
            <a:off x="566928" y="4389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GB" sz="1600" b="1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4" name="Text 2"/>
          <p:cNvSpPr txBox="1"/>
          <p:nvPr/>
        </p:nvSpPr>
        <p:spPr>
          <a:xfrm>
            <a:off x="1188720" y="384048"/>
            <a:ext cx="1043604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2800" b="1" dirty="0">
                <a:solidFill>
                  <a:srgbClr val="5F1937"/>
                </a:solidFill>
                <a:latin typeface="Calibri"/>
                <a:cs typeface="Calibri"/>
              </a:rPr>
              <a:t>Plan of the Presentation</a:t>
            </a:r>
          </a:p>
        </p:txBody>
      </p:sp>
      <p:sp>
        <p:nvSpPr>
          <p:cNvPr id="14" name="Text 12"/>
          <p:cNvSpPr txBox="1"/>
          <p:nvPr/>
        </p:nvSpPr>
        <p:spPr>
          <a:xfrm>
            <a:off x="566928" y="643737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EDHEC Business School  |  FIN 6999 Financial Derivatives  |  Mid-term project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1076127" y="6437376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GB" sz="1000" b="1" dirty="0">
                <a:solidFill>
                  <a:srgbClr val="5F1937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571500" y="1168400"/>
            <a:ext cx="110617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203200" indent="-203200">
              <a:lnSpc>
                <a:spcPct val="100000"/>
              </a:lnSpc>
              <a:spcBef>
                <a:spcPts val="0"/>
              </a:spcBef>
              <a:buClr>
                <a:srgbClr val="32B496"/>
              </a:buClr>
              <a:buSzPct val="75000"/>
              <a:buFont typeface="Arial"/>
              <a:buChar char="►"/>
            </a:pPr>
            <a:r>
              <a:rPr lang="en-GB" sz="1500" dirty="0">
                <a:solidFill>
                  <a:srgbClr val="2B2B2B"/>
                </a:solidFill>
                <a:latin typeface="Calibri"/>
                <a:cs typeface="Calibri"/>
              </a:rPr>
              <a:t>We value a </a:t>
            </a:r>
            <a:r>
              <a:rPr lang="en-GB" sz="1500" b="1" dirty="0">
                <a:solidFill>
                  <a:srgbClr val="2B2B2B"/>
                </a:solidFill>
                <a:latin typeface="Calibri"/>
                <a:cs typeface="Calibri"/>
              </a:rPr>
              <a:t>1-year at-the-money call</a:t>
            </a:r>
            <a:r>
              <a:rPr lang="en-GB" sz="1500" dirty="0">
                <a:solidFill>
                  <a:srgbClr val="2B2B2B"/>
                </a:solidFill>
                <a:latin typeface="Calibri"/>
                <a:cs typeface="Calibri"/>
              </a:rPr>
              <a:t> (S</a:t>
            </a:r>
            <a:r>
              <a:rPr lang="en-GB" sz="1500" baseline="-25000" dirty="0">
                <a:solidFill>
                  <a:srgbClr val="2B2B2B"/>
                </a:solidFill>
                <a:latin typeface="Calibri"/>
                <a:cs typeface="Calibri"/>
              </a:rPr>
              <a:t>0</a:t>
            </a:r>
            <a:r>
              <a:rPr lang="en-GB" sz="1500" dirty="0">
                <a:solidFill>
                  <a:srgbClr val="2B2B2B"/>
                </a:solidFill>
                <a:latin typeface="Calibri"/>
                <a:cs typeface="Calibri"/>
              </a:rPr>
              <a:t> = K = 100, σ = 20%, r = 3.94%, the 1-month T-bill rate (06.10.2026)) on a non-dividend-paying stock that follows a GBM. In this presentation we:</a:t>
            </a:r>
            <a:endParaRPr lang="en-GB" sz="1500" dirty="0"/>
          </a:p>
        </p:txBody>
      </p:sp>
      <p:cxnSp>
        <p:nvCxnSpPr>
          <p:cNvPr id="30" name="Line 30"/>
          <p:cNvCxnSpPr/>
          <p:nvPr/>
        </p:nvCxnSpPr>
        <p:spPr>
          <a:xfrm>
            <a:off x="571500" y="2095500"/>
            <a:ext cx="3429000" cy="0"/>
          </a:xfrm>
          <a:prstGeom prst="line">
            <a:avLst/>
          </a:prstGeom>
          <a:ln w="25400">
            <a:solidFill>
              <a:srgbClr val="32B496"/>
            </a:solidFill>
          </a:ln>
        </p:spPr>
      </p:cxnSp>
      <p:sp>
        <p:nvSpPr>
          <p:cNvPr id="31" name="Text 31"/>
          <p:cNvSpPr txBox="1"/>
          <p:nvPr/>
        </p:nvSpPr>
        <p:spPr>
          <a:xfrm>
            <a:off x="571500" y="2222500"/>
            <a:ext cx="3429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1700" b="1" dirty="0">
                <a:solidFill>
                  <a:srgbClr val="5F1937"/>
                </a:solidFill>
                <a:latin typeface="Calibri"/>
                <a:cs typeface="Calibri"/>
              </a:rPr>
              <a:t>1   Pricing</a:t>
            </a:r>
            <a:endParaRPr lang="en-GB" sz="1700" dirty="0"/>
          </a:p>
        </p:txBody>
      </p:sp>
      <p:sp>
        <p:nvSpPr>
          <p:cNvPr id="32" name="Text 32"/>
          <p:cNvSpPr txBox="1"/>
          <p:nvPr/>
        </p:nvSpPr>
        <p:spPr>
          <a:xfrm>
            <a:off x="571500" y="2628900"/>
            <a:ext cx="3429000" cy="139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GB" sz="1500" b="1" dirty="0">
                <a:solidFill>
                  <a:srgbClr val="2B2B2B"/>
                </a:solidFill>
                <a:latin typeface="Calibri"/>
                <a:cs typeface="Calibri"/>
              </a:rPr>
              <a:t>Price</a:t>
            </a:r>
            <a:r>
              <a:rPr lang="en-GB" sz="1500" dirty="0">
                <a:solidFill>
                  <a:srgbClr val="2B2B2B"/>
                </a:solidFill>
                <a:latin typeface="Calibri"/>
                <a:cs typeface="Calibri"/>
              </a:rPr>
              <a:t> the option with Black-Scholes, Monte Carlo and a binomial tree, and study </a:t>
            </a:r>
            <a:r>
              <a:rPr lang="en-GB" sz="1500" b="1" dirty="0">
                <a:solidFill>
                  <a:srgbClr val="2B2B2B"/>
                </a:solidFill>
                <a:latin typeface="Calibri"/>
                <a:cs typeface="Calibri"/>
              </a:rPr>
              <a:t>convergence</a:t>
            </a:r>
            <a:r>
              <a:rPr lang="en-GB" sz="1500" dirty="0">
                <a:solidFill>
                  <a:srgbClr val="2B2B2B"/>
                </a:solidFill>
                <a:latin typeface="Calibri"/>
                <a:cs typeface="Calibri"/>
              </a:rPr>
              <a:t> and </a:t>
            </a:r>
            <a:r>
              <a:rPr lang="en-GB" sz="1500" b="1" dirty="0">
                <a:solidFill>
                  <a:srgbClr val="2B2B2B"/>
                </a:solidFill>
                <a:latin typeface="Calibri"/>
                <a:cs typeface="Calibri"/>
              </a:rPr>
              <a:t>uncertainty</a:t>
            </a:r>
            <a:r>
              <a:rPr lang="en-GB" sz="1500" dirty="0">
                <a:solidFill>
                  <a:srgbClr val="2B2B2B"/>
                </a:solidFill>
                <a:latin typeface="Calibri"/>
                <a:cs typeface="Calibri"/>
              </a:rPr>
              <a:t>.</a:t>
            </a:r>
            <a:endParaRPr lang="en-GB" sz="1500" dirty="0"/>
          </a:p>
        </p:txBody>
      </p:sp>
      <p:cxnSp>
        <p:nvCxnSpPr>
          <p:cNvPr id="33" name="Line 33"/>
          <p:cNvCxnSpPr/>
          <p:nvPr/>
        </p:nvCxnSpPr>
        <p:spPr>
          <a:xfrm>
            <a:off x="4330700" y="2095500"/>
            <a:ext cx="3429000" cy="0"/>
          </a:xfrm>
          <a:prstGeom prst="line">
            <a:avLst/>
          </a:prstGeom>
          <a:ln w="25400">
            <a:solidFill>
              <a:srgbClr val="32B496"/>
            </a:solidFill>
          </a:ln>
        </p:spPr>
      </p:cxnSp>
      <p:sp>
        <p:nvSpPr>
          <p:cNvPr id="34" name="Text 34"/>
          <p:cNvSpPr txBox="1"/>
          <p:nvPr/>
        </p:nvSpPr>
        <p:spPr>
          <a:xfrm>
            <a:off x="4330700" y="2222500"/>
            <a:ext cx="3429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1700" b="1" dirty="0">
                <a:solidFill>
                  <a:srgbClr val="5F1937"/>
                </a:solidFill>
                <a:latin typeface="Calibri"/>
                <a:cs typeface="Calibri"/>
              </a:rPr>
              <a:t>2   Replication</a:t>
            </a:r>
            <a:endParaRPr lang="en-GB" sz="1700" dirty="0"/>
          </a:p>
        </p:txBody>
      </p:sp>
      <p:sp>
        <p:nvSpPr>
          <p:cNvPr id="35" name="Text 35"/>
          <p:cNvSpPr txBox="1"/>
          <p:nvPr/>
        </p:nvSpPr>
        <p:spPr>
          <a:xfrm>
            <a:off x="4330700" y="2628900"/>
            <a:ext cx="3429000" cy="139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GB" sz="1500" b="1" dirty="0">
                <a:solidFill>
                  <a:srgbClr val="2B2B2B"/>
                </a:solidFill>
                <a:latin typeface="Calibri"/>
                <a:cs typeface="Calibri"/>
              </a:rPr>
              <a:t>Replicate</a:t>
            </a:r>
            <a:r>
              <a:rPr lang="en-GB" sz="1500" dirty="0">
                <a:solidFill>
                  <a:srgbClr val="2B2B2B"/>
                </a:solidFill>
                <a:latin typeface="Calibri"/>
                <a:cs typeface="Calibri"/>
              </a:rPr>
              <a:t> the option by delta hedging along 10,000 Monte Carlo paths, and explain the </a:t>
            </a:r>
            <a:r>
              <a:rPr lang="en-GB" sz="1500" b="1" dirty="0">
                <a:solidFill>
                  <a:srgbClr val="2B2B2B"/>
                </a:solidFill>
                <a:latin typeface="Calibri"/>
                <a:cs typeface="Calibri"/>
              </a:rPr>
              <a:t>hedging error</a:t>
            </a:r>
            <a:r>
              <a:rPr lang="en-GB" sz="1500" dirty="0">
                <a:solidFill>
                  <a:srgbClr val="2B2B2B"/>
                </a:solidFill>
                <a:latin typeface="Calibri"/>
                <a:cs typeface="Calibri"/>
              </a:rPr>
              <a:t> at expiry.</a:t>
            </a:r>
            <a:endParaRPr lang="en-GB" sz="1500" dirty="0"/>
          </a:p>
        </p:txBody>
      </p:sp>
      <p:cxnSp>
        <p:nvCxnSpPr>
          <p:cNvPr id="36" name="Line 36"/>
          <p:cNvCxnSpPr/>
          <p:nvPr/>
        </p:nvCxnSpPr>
        <p:spPr>
          <a:xfrm>
            <a:off x="8089900" y="2095500"/>
            <a:ext cx="3429000" cy="0"/>
          </a:xfrm>
          <a:prstGeom prst="line">
            <a:avLst/>
          </a:prstGeom>
          <a:ln w="25400">
            <a:solidFill>
              <a:srgbClr val="32B496"/>
            </a:solidFill>
          </a:ln>
        </p:spPr>
      </p:cxnSp>
      <p:sp>
        <p:nvSpPr>
          <p:cNvPr id="37" name="Text 37"/>
          <p:cNvSpPr txBox="1"/>
          <p:nvPr/>
        </p:nvSpPr>
        <p:spPr>
          <a:xfrm>
            <a:off x="8089900" y="2222500"/>
            <a:ext cx="3429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1700" b="1" dirty="0">
                <a:solidFill>
                  <a:srgbClr val="5F1937"/>
                </a:solidFill>
                <a:latin typeface="Calibri"/>
                <a:cs typeface="Calibri"/>
              </a:rPr>
              <a:t>3   Greeks</a:t>
            </a:r>
            <a:endParaRPr lang="en-GB" sz="1700" dirty="0"/>
          </a:p>
        </p:txBody>
      </p:sp>
      <p:sp>
        <p:nvSpPr>
          <p:cNvPr id="38" name="Text 38"/>
          <p:cNvSpPr txBox="1"/>
          <p:nvPr/>
        </p:nvSpPr>
        <p:spPr>
          <a:xfrm>
            <a:off x="8089900" y="2628900"/>
            <a:ext cx="3429000" cy="139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GB" sz="1500" b="1" dirty="0">
                <a:solidFill>
                  <a:srgbClr val="2B2B2B"/>
                </a:solidFill>
                <a:latin typeface="Calibri"/>
                <a:cs typeface="Calibri"/>
              </a:rPr>
              <a:t>Estimate</a:t>
            </a:r>
            <a:r>
              <a:rPr lang="en-GB" sz="1500" dirty="0">
                <a:solidFill>
                  <a:srgbClr val="2B2B2B"/>
                </a:solidFill>
                <a:latin typeface="Calibri"/>
                <a:cs typeface="Calibri"/>
              </a:rPr>
              <a:t> delta, gamma and vega with all methods, and explain why the methods differ.</a:t>
            </a:r>
            <a:endParaRPr lang="en-GB" sz="1500" dirty="0"/>
          </a:p>
        </p:txBody>
      </p:sp>
      <p:sp>
        <p:nvSpPr>
          <p:cNvPr id="40" name="Shape 40"/>
          <p:cNvSpPr/>
          <p:nvPr/>
        </p:nvSpPr>
        <p:spPr>
          <a:xfrm>
            <a:off x="571500" y="4318000"/>
            <a:ext cx="11061700" cy="1270000"/>
          </a:xfrm>
          <a:prstGeom prst="rect">
            <a:avLst/>
          </a:prstGeom>
          <a:solidFill>
            <a:srgbClr val="EDE5E8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41" name="Text 41"/>
          <p:cNvSpPr txBox="1"/>
          <p:nvPr/>
        </p:nvSpPr>
        <p:spPr>
          <a:xfrm>
            <a:off x="825500" y="4521200"/>
            <a:ext cx="10541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1400" b="1" dirty="0">
                <a:solidFill>
                  <a:srgbClr val="5F1937"/>
                </a:solidFill>
                <a:latin typeface="Calibri"/>
                <a:cs typeface="Calibri"/>
              </a:rPr>
              <a:t>Throughout</a:t>
            </a:r>
            <a:endParaRPr lang="en-GB" sz="1400" dirty="0"/>
          </a:p>
        </p:txBody>
      </p:sp>
      <p:sp>
        <p:nvSpPr>
          <p:cNvPr id="42" name="Text 42"/>
          <p:cNvSpPr txBox="1"/>
          <p:nvPr/>
        </p:nvSpPr>
        <p:spPr>
          <a:xfrm>
            <a:off x="825500" y="4876800"/>
            <a:ext cx="10541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1500" dirty="0">
                <a:solidFill>
                  <a:srgbClr val="2B2B2B"/>
                </a:solidFill>
                <a:latin typeface="Calibri"/>
                <a:cs typeface="Calibri"/>
              </a:rPr>
              <a:t>We show what the results </a:t>
            </a:r>
            <a:r>
              <a:rPr lang="en-GB" sz="1500" b="1" dirty="0">
                <a:solidFill>
                  <a:srgbClr val="2B2B2B"/>
                </a:solidFill>
                <a:latin typeface="Calibri"/>
                <a:cs typeface="Calibri"/>
              </a:rPr>
              <a:t>depend on</a:t>
            </a:r>
            <a:r>
              <a:rPr lang="en-GB" sz="1500" dirty="0">
                <a:solidFill>
                  <a:srgbClr val="2B2B2B"/>
                </a:solidFill>
                <a:latin typeface="Calibri"/>
                <a:cs typeface="Calibri"/>
              </a:rPr>
              <a:t>, and what they </a:t>
            </a:r>
            <a:r>
              <a:rPr lang="en-GB" sz="1500" b="1" dirty="0">
                <a:solidFill>
                  <a:srgbClr val="2B2B2B"/>
                </a:solidFill>
                <a:latin typeface="Calibri"/>
                <a:cs typeface="Calibri"/>
              </a:rPr>
              <a:t>do not depend on</a:t>
            </a:r>
            <a:r>
              <a:rPr lang="en-GB" sz="1500" dirty="0">
                <a:solidFill>
                  <a:srgbClr val="2B2B2B"/>
                </a:solidFill>
                <a:latin typeface="Calibri"/>
                <a:cs typeface="Calibri"/>
              </a:rPr>
              <a:t>. Black-Scholes is the benchmark.</a:t>
            </a:r>
            <a:endParaRPr lang="en-GB" sz="15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0CA3333-0B94-07E3-4AA2-07EB7723E734}"/>
              </a:ext>
            </a:extLst>
          </p:cNvPr>
          <p:cNvSpPr/>
          <p:nvPr/>
        </p:nvSpPr>
        <p:spPr>
          <a:xfrm>
            <a:off x="2719449" y="3761840"/>
            <a:ext cx="3859480" cy="131816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M</a:t>
            </a:r>
            <a:r>
              <a:rPr lang="en-DE"/>
              <a:t>ention appendix and that the math is in there</a:t>
            </a:r>
          </a:p>
        </p:txBody>
      </p:sp>
    </p:spTree>
    <p:extLst>
      <p:ext uri="{BB962C8B-B14F-4D97-AF65-F5344CB8AC3E}">
        <p14:creationId xmlns:p14="http://schemas.microsoft.com/office/powerpoint/2010/main" val="29072048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38912"/>
            <a:ext cx="420624" cy="420624"/>
          </a:xfrm>
          <a:prstGeom prst="rect">
            <a:avLst/>
          </a:prstGeom>
          <a:solidFill>
            <a:srgbClr val="32B496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Text 1"/>
          <p:cNvSpPr txBox="1"/>
          <p:nvPr/>
        </p:nvSpPr>
        <p:spPr>
          <a:xfrm>
            <a:off x="566928" y="4389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GB" sz="1600" b="1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4" name="Text 2"/>
          <p:cNvSpPr txBox="1"/>
          <p:nvPr/>
        </p:nvSpPr>
        <p:spPr>
          <a:xfrm>
            <a:off x="1188720" y="384048"/>
            <a:ext cx="1043604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2800" b="1" dirty="0">
                <a:solidFill>
                  <a:srgbClr val="5F1937"/>
                </a:solidFill>
                <a:latin typeface="Calibri"/>
                <a:cs typeface="Calibri"/>
              </a:rPr>
              <a:t>Pricing</a:t>
            </a:r>
            <a:r>
              <a:rPr lang="en-GB" sz="2000" dirty="0">
                <a:solidFill>
                  <a:srgbClr val="6B6B6B"/>
                </a:solidFill>
                <a:latin typeface="Calibri"/>
                <a:cs typeface="Calibri"/>
              </a:rPr>
              <a:t>   One Price, Three Engines</a:t>
            </a:r>
          </a:p>
        </p:txBody>
      </p:sp>
      <p:sp>
        <p:nvSpPr>
          <p:cNvPr id="14" name="Text 12"/>
          <p:cNvSpPr txBox="1"/>
          <p:nvPr/>
        </p:nvSpPr>
        <p:spPr>
          <a:xfrm>
            <a:off x="566928" y="643737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EDHEC Business School  |  FIN 6999 Financial Derivatives  |  Mid-term project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1076127" y="6437376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GB" sz="1000" b="1" dirty="0">
                <a:solidFill>
                  <a:srgbClr val="5F1937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571500" y="1206500"/>
            <a:ext cx="6350000" cy="317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1500" dirty="0">
                <a:solidFill>
                  <a:srgbClr val="2B2B2B"/>
                </a:solidFill>
                <a:latin typeface="Calibri"/>
                <a:cs typeface="Calibri"/>
              </a:rPr>
              <a:t>Remember that, given dS</a:t>
            </a:r>
            <a:r>
              <a:rPr lang="en-GB" sz="1500" baseline="-25000" dirty="0">
                <a:solidFill>
                  <a:srgbClr val="2B2B2B"/>
                </a:solidFill>
                <a:latin typeface="Calibri"/>
                <a:cs typeface="Calibri"/>
              </a:rPr>
              <a:t>t</a:t>
            </a:r>
            <a:r>
              <a:rPr lang="en-GB" sz="1500" dirty="0">
                <a:solidFill>
                  <a:srgbClr val="2B2B2B"/>
                </a:solidFill>
                <a:latin typeface="Calibri"/>
                <a:cs typeface="Calibri"/>
              </a:rPr>
              <a:t> = μS</a:t>
            </a:r>
            <a:r>
              <a:rPr lang="en-GB" sz="1500" baseline="-25000" dirty="0">
                <a:solidFill>
                  <a:srgbClr val="2B2B2B"/>
                </a:solidFill>
                <a:latin typeface="Calibri"/>
                <a:cs typeface="Calibri"/>
              </a:rPr>
              <a:t>t</a:t>
            </a:r>
            <a:r>
              <a:rPr lang="en-GB" sz="1500" dirty="0">
                <a:solidFill>
                  <a:srgbClr val="2B2B2B"/>
                </a:solidFill>
                <a:latin typeface="Calibri"/>
                <a:cs typeface="Calibri"/>
              </a:rPr>
              <a:t>dt + σS</a:t>
            </a:r>
            <a:r>
              <a:rPr lang="en-GB" sz="1500" baseline="-25000" dirty="0">
                <a:solidFill>
                  <a:srgbClr val="2B2B2B"/>
                </a:solidFill>
                <a:latin typeface="Calibri"/>
                <a:cs typeface="Calibri"/>
              </a:rPr>
              <a:t>t</a:t>
            </a:r>
            <a:r>
              <a:rPr lang="en-GB" sz="1500" dirty="0">
                <a:solidFill>
                  <a:srgbClr val="2B2B2B"/>
                </a:solidFill>
                <a:latin typeface="Calibri"/>
                <a:cs typeface="Calibri"/>
              </a:rPr>
              <a:t>dz</a:t>
            </a:r>
            <a:r>
              <a:rPr lang="en-GB" sz="1500" baseline="-25000" dirty="0">
                <a:solidFill>
                  <a:srgbClr val="2B2B2B"/>
                </a:solidFill>
                <a:latin typeface="Calibri"/>
                <a:cs typeface="Calibri"/>
              </a:rPr>
              <a:t>t</a:t>
            </a:r>
            <a:r>
              <a:rPr lang="en-GB" sz="1500" dirty="0">
                <a:solidFill>
                  <a:srgbClr val="2B2B2B"/>
                </a:solidFill>
                <a:latin typeface="Calibri"/>
                <a:cs typeface="Calibri"/>
              </a:rPr>
              <a:t>, no-arbitrage gives the PDE</a:t>
            </a:r>
            <a:endParaRPr lang="en-GB" sz="1500" dirty="0"/>
          </a:p>
          <a:p>
            <a:pPr marL="254000" indent="0">
              <a:lnSpc>
                <a:spcPct val="100000"/>
              </a:lnSpc>
              <a:spcBef>
                <a:spcPts val="1000"/>
              </a:spcBef>
              <a:buNone/>
              <a:tabLst>
                <a:tab pos="6070600" algn="r"/>
              </a:tabLst>
            </a:pPr>
            <a:r>
              <a:rPr lang="en-GB" sz="1500" dirty="0">
                <a:solidFill>
                  <a:srgbClr val="2B2B2B"/>
                </a:solidFill>
                <a:latin typeface="Cambria Math"/>
                <a:cs typeface="Cambria Math"/>
              </a:rPr>
              <a:t>∂C/∂t + rS ∂C/∂S + ½σ</a:t>
            </a:r>
            <a:r>
              <a:rPr lang="en-GB" sz="1500" baseline="30000" dirty="0">
                <a:solidFill>
                  <a:srgbClr val="2B2B2B"/>
                </a:solidFill>
                <a:latin typeface="Cambria Math"/>
                <a:cs typeface="Cambria Math"/>
              </a:rPr>
              <a:t>2</a:t>
            </a:r>
            <a:r>
              <a:rPr lang="en-GB" sz="1500" dirty="0">
                <a:solidFill>
                  <a:srgbClr val="2B2B2B"/>
                </a:solidFill>
                <a:latin typeface="Cambria Math"/>
                <a:cs typeface="Cambria Math"/>
              </a:rPr>
              <a:t>S</a:t>
            </a:r>
            <a:r>
              <a:rPr lang="en-GB" sz="1500" baseline="30000" dirty="0">
                <a:solidFill>
                  <a:srgbClr val="2B2B2B"/>
                </a:solidFill>
                <a:latin typeface="Cambria Math"/>
                <a:cs typeface="Cambria Math"/>
              </a:rPr>
              <a:t>2</a:t>
            </a:r>
            <a:r>
              <a:rPr lang="en-GB" sz="1500" dirty="0">
                <a:solidFill>
                  <a:srgbClr val="2B2B2B"/>
                </a:solidFill>
                <a:latin typeface="Cambria Math"/>
                <a:cs typeface="Cambria Math"/>
              </a:rPr>
              <a:t> ∂</a:t>
            </a:r>
            <a:r>
              <a:rPr lang="en-GB" sz="1500" baseline="30000" dirty="0">
                <a:solidFill>
                  <a:srgbClr val="2B2B2B"/>
                </a:solidFill>
                <a:latin typeface="Cambria Math"/>
                <a:cs typeface="Cambria Math"/>
              </a:rPr>
              <a:t>2</a:t>
            </a:r>
            <a:r>
              <a:rPr lang="en-GB" sz="1500" dirty="0">
                <a:solidFill>
                  <a:srgbClr val="2B2B2B"/>
                </a:solidFill>
                <a:latin typeface="Cambria Math"/>
                <a:cs typeface="Cambria Math"/>
              </a:rPr>
              <a:t>C/∂S</a:t>
            </a:r>
            <a:r>
              <a:rPr lang="en-GB" sz="1500" baseline="30000" dirty="0">
                <a:solidFill>
                  <a:srgbClr val="2B2B2B"/>
                </a:solidFill>
                <a:latin typeface="Cambria Math"/>
                <a:cs typeface="Cambria Math"/>
              </a:rPr>
              <a:t>2</a:t>
            </a:r>
            <a:r>
              <a:rPr lang="en-GB" sz="1500" dirty="0">
                <a:solidFill>
                  <a:srgbClr val="2B2B2B"/>
                </a:solidFill>
                <a:latin typeface="Cambria Math"/>
                <a:cs typeface="Cambria Math"/>
              </a:rPr>
              <a:t> − rC = 0</a:t>
            </a:r>
            <a:r>
              <a:rPr lang="en-GB" sz="1500" dirty="0">
                <a:solidFill>
                  <a:srgbClr val="6B6B6B"/>
                </a:solidFill>
                <a:latin typeface="Calibri"/>
                <a:cs typeface="Calibri"/>
              </a:rPr>
              <a:t>	(1)</a:t>
            </a:r>
            <a:endParaRPr lang="en-GB" sz="1500" dirty="0"/>
          </a:p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GB" sz="1500" dirty="0">
                <a:solidFill>
                  <a:srgbClr val="2B2B2B"/>
                </a:solidFill>
                <a:latin typeface="Calibri"/>
                <a:cs typeface="Calibri"/>
              </a:rPr>
              <a:t>and, by Feynman-Kac, its solution is the discounted expectation</a:t>
            </a:r>
            <a:endParaRPr lang="en-GB" sz="1500" dirty="0"/>
          </a:p>
          <a:p>
            <a:pPr marL="254000" indent="0">
              <a:lnSpc>
                <a:spcPct val="100000"/>
              </a:lnSpc>
              <a:spcBef>
                <a:spcPts val="1000"/>
              </a:spcBef>
              <a:buNone/>
              <a:tabLst>
                <a:tab pos="6070600" algn="r"/>
              </a:tabLst>
            </a:pPr>
            <a:r>
              <a:rPr lang="en-GB" sz="1500" dirty="0">
                <a:solidFill>
                  <a:srgbClr val="2B2B2B"/>
                </a:solidFill>
                <a:latin typeface="Cambria Math"/>
                <a:cs typeface="Cambria Math"/>
              </a:rPr>
              <a:t>C = e</a:t>
            </a:r>
            <a:r>
              <a:rPr lang="en-GB" sz="1500" baseline="30000" dirty="0">
                <a:solidFill>
                  <a:srgbClr val="2B2B2B"/>
                </a:solidFill>
                <a:latin typeface="Cambria Math"/>
                <a:cs typeface="Cambria Math"/>
              </a:rPr>
              <a:t>−rT</a:t>
            </a:r>
            <a:r>
              <a:rPr lang="en-GB" sz="1500" dirty="0">
                <a:solidFill>
                  <a:srgbClr val="2B2B2B"/>
                </a:solidFill>
                <a:latin typeface="Cambria Math"/>
                <a:cs typeface="Cambria Math"/>
              </a:rPr>
              <a:t> E</a:t>
            </a:r>
            <a:r>
              <a:rPr lang="en-GB" sz="1500" baseline="30000" dirty="0">
                <a:solidFill>
                  <a:srgbClr val="2B2B2B"/>
                </a:solidFill>
                <a:latin typeface="Cambria Math"/>
                <a:cs typeface="Cambria Math"/>
              </a:rPr>
              <a:t>Q</a:t>
            </a:r>
            <a:r>
              <a:rPr lang="en-GB" sz="1500" dirty="0">
                <a:solidFill>
                  <a:srgbClr val="2B2B2B"/>
                </a:solidFill>
                <a:latin typeface="Cambria Math"/>
                <a:cs typeface="Cambria Math"/>
              </a:rPr>
              <a:t>[max(S</a:t>
            </a:r>
            <a:r>
              <a:rPr lang="en-GB" sz="1500" baseline="-25000" dirty="0">
                <a:solidFill>
                  <a:srgbClr val="2B2B2B"/>
                </a:solidFill>
                <a:latin typeface="Cambria Math"/>
                <a:cs typeface="Cambria Math"/>
              </a:rPr>
              <a:t>T</a:t>
            </a:r>
            <a:r>
              <a:rPr lang="en-GB" sz="1500" dirty="0">
                <a:solidFill>
                  <a:srgbClr val="2B2B2B"/>
                </a:solidFill>
                <a:latin typeface="Cambria Math"/>
                <a:cs typeface="Cambria Math"/>
              </a:rPr>
              <a:t> − K, 0)]</a:t>
            </a:r>
            <a:endParaRPr lang="en-GB" sz="1500" dirty="0"/>
          </a:p>
          <a:p>
            <a:pPr marL="254000" indent="0">
              <a:lnSpc>
                <a:spcPct val="100000"/>
              </a:lnSpc>
              <a:spcBef>
                <a:spcPts val="400"/>
              </a:spcBef>
              <a:buNone/>
              <a:tabLst>
                <a:tab pos="6070600" algn="r"/>
              </a:tabLst>
            </a:pPr>
            <a:r>
              <a:rPr lang="en-GB" sz="1500" dirty="0">
                <a:solidFill>
                  <a:srgbClr val="2B2B2B"/>
                </a:solidFill>
                <a:latin typeface="Cambria Math"/>
                <a:cs typeface="Cambria Math"/>
              </a:rPr>
              <a:t>S</a:t>
            </a:r>
            <a:r>
              <a:rPr lang="en-GB" sz="1500" baseline="-25000" dirty="0">
                <a:solidFill>
                  <a:srgbClr val="2B2B2B"/>
                </a:solidFill>
                <a:latin typeface="Cambria Math"/>
                <a:cs typeface="Cambria Math"/>
              </a:rPr>
              <a:t>T</a:t>
            </a:r>
            <a:r>
              <a:rPr lang="en-GB" sz="1500" dirty="0">
                <a:solidFill>
                  <a:srgbClr val="2B2B2B"/>
                </a:solidFill>
                <a:latin typeface="Cambria Math"/>
                <a:cs typeface="Cambria Math"/>
              </a:rPr>
              <a:t> = S</a:t>
            </a:r>
            <a:r>
              <a:rPr lang="en-GB" sz="1500" baseline="-25000" dirty="0">
                <a:solidFill>
                  <a:srgbClr val="2B2B2B"/>
                </a:solidFill>
                <a:latin typeface="Cambria Math"/>
                <a:cs typeface="Cambria Math"/>
              </a:rPr>
              <a:t>0</a:t>
            </a:r>
            <a:r>
              <a:rPr lang="en-GB" sz="1500" dirty="0">
                <a:solidFill>
                  <a:srgbClr val="2B2B2B"/>
                </a:solidFill>
                <a:latin typeface="Cambria Math"/>
                <a:cs typeface="Cambria Math"/>
              </a:rPr>
              <a:t> exp[(r − ½σ</a:t>
            </a:r>
            <a:r>
              <a:rPr lang="en-GB" sz="1500" baseline="30000" dirty="0">
                <a:solidFill>
                  <a:srgbClr val="2B2B2B"/>
                </a:solidFill>
                <a:latin typeface="Cambria Math"/>
                <a:cs typeface="Cambria Math"/>
              </a:rPr>
              <a:t>2</a:t>
            </a:r>
            <a:r>
              <a:rPr lang="en-GB" sz="1500" dirty="0">
                <a:solidFill>
                  <a:srgbClr val="2B2B2B"/>
                </a:solidFill>
                <a:latin typeface="Cambria Math"/>
                <a:cs typeface="Cambria Math"/>
              </a:rPr>
              <a:t>)T + σ√T ε]</a:t>
            </a:r>
            <a:r>
              <a:rPr lang="en-GB" sz="1500" dirty="0">
                <a:solidFill>
                  <a:srgbClr val="6B6B6B"/>
                </a:solidFill>
                <a:latin typeface="Calibri"/>
                <a:cs typeface="Calibri"/>
              </a:rPr>
              <a:t>	(2)</a:t>
            </a:r>
            <a:endParaRPr lang="en-GB" sz="1500" dirty="0"/>
          </a:p>
          <a:p>
            <a:pPr marL="0" indent="0">
              <a:lnSpc>
                <a:spcPct val="100000"/>
              </a:lnSpc>
              <a:spcBef>
                <a:spcPts val="1400"/>
              </a:spcBef>
              <a:buNone/>
            </a:pPr>
            <a:r>
              <a:rPr lang="en-GB" sz="1500" dirty="0">
                <a:solidFill>
                  <a:srgbClr val="2B2B2B"/>
                </a:solidFill>
                <a:latin typeface="Calibri"/>
                <a:cs typeface="Calibri"/>
              </a:rPr>
              <a:t>Black-Scholes solves (1) in closed form:</a:t>
            </a:r>
            <a:endParaRPr lang="en-GB" sz="1500" dirty="0"/>
          </a:p>
          <a:p>
            <a:pPr marL="254000" indent="0">
              <a:lnSpc>
                <a:spcPct val="100000"/>
              </a:lnSpc>
              <a:spcBef>
                <a:spcPts val="800"/>
              </a:spcBef>
              <a:buNone/>
              <a:tabLst>
                <a:tab pos="6070600" algn="r"/>
              </a:tabLst>
            </a:pPr>
            <a:r>
              <a:rPr lang="en-GB" sz="1500" dirty="0">
                <a:solidFill>
                  <a:srgbClr val="2B2B2B"/>
                </a:solidFill>
                <a:latin typeface="Cambria Math"/>
                <a:cs typeface="Cambria Math"/>
              </a:rPr>
              <a:t>C = S</a:t>
            </a:r>
            <a:r>
              <a:rPr lang="en-GB" sz="1500" baseline="-25000" dirty="0">
                <a:solidFill>
                  <a:srgbClr val="2B2B2B"/>
                </a:solidFill>
                <a:latin typeface="Cambria Math"/>
                <a:cs typeface="Cambria Math"/>
              </a:rPr>
              <a:t>0</a:t>
            </a:r>
            <a:r>
              <a:rPr lang="en-GB" sz="1500" dirty="0">
                <a:solidFill>
                  <a:srgbClr val="2B2B2B"/>
                </a:solidFill>
                <a:latin typeface="Cambria Math"/>
                <a:cs typeface="Cambria Math"/>
              </a:rPr>
              <a:t>N(h</a:t>
            </a:r>
            <a:r>
              <a:rPr lang="en-GB" sz="1500" baseline="-25000" dirty="0">
                <a:solidFill>
                  <a:srgbClr val="2B2B2B"/>
                </a:solidFill>
                <a:latin typeface="Cambria Math"/>
                <a:cs typeface="Cambria Math"/>
              </a:rPr>
              <a:t>1</a:t>
            </a:r>
            <a:r>
              <a:rPr lang="en-GB" sz="1500" dirty="0">
                <a:solidFill>
                  <a:srgbClr val="2B2B2B"/>
                </a:solidFill>
                <a:latin typeface="Cambria Math"/>
                <a:cs typeface="Cambria Math"/>
              </a:rPr>
              <a:t>) − Ke</a:t>
            </a:r>
            <a:r>
              <a:rPr lang="en-GB" sz="1500" baseline="30000" dirty="0">
                <a:solidFill>
                  <a:srgbClr val="2B2B2B"/>
                </a:solidFill>
                <a:latin typeface="Cambria Math"/>
                <a:cs typeface="Cambria Math"/>
              </a:rPr>
              <a:t>−rT</a:t>
            </a:r>
            <a:r>
              <a:rPr lang="en-GB" sz="1500" dirty="0">
                <a:solidFill>
                  <a:srgbClr val="2B2B2B"/>
                </a:solidFill>
                <a:latin typeface="Cambria Math"/>
                <a:cs typeface="Cambria Math"/>
              </a:rPr>
              <a:t>N(h</a:t>
            </a:r>
            <a:r>
              <a:rPr lang="en-GB" sz="1500" baseline="-25000" dirty="0">
                <a:solidFill>
                  <a:srgbClr val="2B2B2B"/>
                </a:solidFill>
                <a:latin typeface="Cambria Math"/>
                <a:cs typeface="Cambria Math"/>
              </a:rPr>
              <a:t>2</a:t>
            </a:r>
            <a:r>
              <a:rPr lang="en-GB" sz="1500" dirty="0">
                <a:solidFill>
                  <a:srgbClr val="2B2B2B"/>
                </a:solidFill>
                <a:latin typeface="Cambria Math"/>
                <a:cs typeface="Cambria Math"/>
              </a:rPr>
              <a:t>),   h</a:t>
            </a:r>
            <a:r>
              <a:rPr lang="en-GB" sz="1500" baseline="-25000" dirty="0">
                <a:solidFill>
                  <a:srgbClr val="2B2B2B"/>
                </a:solidFill>
                <a:latin typeface="Cambria Math"/>
                <a:cs typeface="Cambria Math"/>
              </a:rPr>
              <a:t>1</a:t>
            </a:r>
            <a:r>
              <a:rPr lang="en-GB" sz="1500" dirty="0">
                <a:solidFill>
                  <a:srgbClr val="2B2B2B"/>
                </a:solidFill>
                <a:latin typeface="Cambria Math"/>
                <a:cs typeface="Cambria Math"/>
              </a:rPr>
              <a:t> = 0.297, h</a:t>
            </a:r>
            <a:r>
              <a:rPr lang="en-GB" sz="1500" baseline="-25000" dirty="0">
                <a:solidFill>
                  <a:srgbClr val="2B2B2B"/>
                </a:solidFill>
                <a:latin typeface="Cambria Math"/>
                <a:cs typeface="Cambria Math"/>
              </a:rPr>
              <a:t>2</a:t>
            </a:r>
            <a:r>
              <a:rPr lang="en-GB" sz="1500" dirty="0">
                <a:solidFill>
                  <a:srgbClr val="2B2B2B"/>
                </a:solidFill>
                <a:latin typeface="Cambria Math"/>
                <a:cs typeface="Cambria Math"/>
              </a:rPr>
              <a:t> = 0.097</a:t>
            </a:r>
            <a:endParaRPr lang="en-GB" sz="1500" dirty="0"/>
          </a:p>
        </p:txBody>
      </p:sp>
      <p:sp>
        <p:nvSpPr>
          <p:cNvPr id="29" name="Text 29"/>
          <p:cNvSpPr txBox="1"/>
          <p:nvPr/>
        </p:nvSpPr>
        <p:spPr>
          <a:xfrm>
            <a:off x="7493000" y="1206500"/>
            <a:ext cx="41402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1500" b="1" dirty="0">
                <a:solidFill>
                  <a:srgbClr val="5F1937"/>
                </a:solidFill>
                <a:latin typeface="Calibri"/>
                <a:cs typeface="Calibri"/>
              </a:rPr>
              <a:t>Three engines, one number</a:t>
            </a:r>
            <a:endParaRPr lang="en-GB" sz="1500" dirty="0"/>
          </a:p>
        </p:txBody>
      </p:sp>
      <p:sp>
        <p:nvSpPr>
          <p:cNvPr id="30" name="Shape 30"/>
          <p:cNvSpPr/>
          <p:nvPr/>
        </p:nvSpPr>
        <p:spPr>
          <a:xfrm>
            <a:off x="7493000" y="1587500"/>
            <a:ext cx="4140200" cy="787400"/>
          </a:xfrm>
          <a:prstGeom prst="rect">
            <a:avLst/>
          </a:prstGeom>
          <a:solidFill>
            <a:srgbClr val="EDE5E8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31" name="Shape 31"/>
          <p:cNvSpPr/>
          <p:nvPr/>
        </p:nvSpPr>
        <p:spPr>
          <a:xfrm>
            <a:off x="7493000" y="1587500"/>
            <a:ext cx="63500" cy="787400"/>
          </a:xfrm>
          <a:prstGeom prst="rect">
            <a:avLst/>
          </a:prstGeom>
          <a:solidFill>
            <a:srgbClr val="5F1937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32" name="Text 32"/>
          <p:cNvSpPr txBox="1"/>
          <p:nvPr/>
        </p:nvSpPr>
        <p:spPr>
          <a:xfrm>
            <a:off x="7683500" y="1587500"/>
            <a:ext cx="3822700" cy="787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1500" b="1" dirty="0">
                <a:solidFill>
                  <a:srgbClr val="5F1937"/>
                </a:solidFill>
                <a:latin typeface="Calibri"/>
                <a:cs typeface="Calibri"/>
              </a:rPr>
              <a:t>Black-Scholes</a:t>
            </a:r>
            <a:endParaRPr lang="en-GB" sz="15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1400" dirty="0">
                <a:solidFill>
                  <a:srgbClr val="2B2B2B"/>
                </a:solidFill>
                <a:latin typeface="Calibri"/>
                <a:cs typeface="Calibri"/>
              </a:rPr>
              <a:t>solves (1) in closed form</a:t>
            </a:r>
            <a:endParaRPr lang="en-GB" sz="1400" dirty="0"/>
          </a:p>
        </p:txBody>
      </p:sp>
      <p:sp>
        <p:nvSpPr>
          <p:cNvPr id="36" name="Shape 36"/>
          <p:cNvSpPr/>
          <p:nvPr/>
        </p:nvSpPr>
        <p:spPr>
          <a:xfrm>
            <a:off x="7493000" y="2527300"/>
            <a:ext cx="4140200" cy="787400"/>
          </a:xfrm>
          <a:prstGeom prst="rect">
            <a:avLst/>
          </a:prstGeom>
          <a:solidFill>
            <a:srgbClr val="EDE5E8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37" name="Shape 37"/>
          <p:cNvSpPr/>
          <p:nvPr/>
        </p:nvSpPr>
        <p:spPr>
          <a:xfrm>
            <a:off x="7493000" y="2527300"/>
            <a:ext cx="63500" cy="787400"/>
          </a:xfrm>
          <a:prstGeom prst="rect">
            <a:avLst/>
          </a:prstGeom>
          <a:solidFill>
            <a:srgbClr val="32B496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38" name="Text 38"/>
          <p:cNvSpPr txBox="1"/>
          <p:nvPr/>
        </p:nvSpPr>
        <p:spPr>
          <a:xfrm>
            <a:off x="7683500" y="2527300"/>
            <a:ext cx="3822700" cy="787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1500" b="1" dirty="0">
                <a:solidFill>
                  <a:srgbClr val="5F1937"/>
                </a:solidFill>
                <a:latin typeface="Calibri"/>
                <a:cs typeface="Calibri"/>
              </a:rPr>
              <a:t>Monte Carlo</a:t>
            </a:r>
            <a:endParaRPr lang="en-GB" sz="15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1400" dirty="0">
                <a:solidFill>
                  <a:srgbClr val="2B2B2B"/>
                </a:solidFill>
                <a:latin typeface="Calibri"/>
                <a:cs typeface="Calibri"/>
              </a:rPr>
              <a:t>computes (2) by sampling S</a:t>
            </a:r>
            <a:r>
              <a:rPr lang="en-GB" sz="1400" baseline="-25000" dirty="0">
                <a:solidFill>
                  <a:srgbClr val="2B2B2B"/>
                </a:solidFill>
                <a:latin typeface="Calibri"/>
                <a:cs typeface="Calibri"/>
              </a:rPr>
              <a:t>T</a:t>
            </a:r>
            <a:endParaRPr lang="en-GB" sz="1400" dirty="0"/>
          </a:p>
        </p:txBody>
      </p:sp>
      <p:sp>
        <p:nvSpPr>
          <p:cNvPr id="39" name="Shape 39"/>
          <p:cNvSpPr/>
          <p:nvPr/>
        </p:nvSpPr>
        <p:spPr>
          <a:xfrm>
            <a:off x="7493000" y="3467100"/>
            <a:ext cx="4140200" cy="787400"/>
          </a:xfrm>
          <a:prstGeom prst="rect">
            <a:avLst/>
          </a:prstGeom>
          <a:solidFill>
            <a:srgbClr val="EDE5E8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40" name="Shape 40"/>
          <p:cNvSpPr/>
          <p:nvPr/>
        </p:nvSpPr>
        <p:spPr>
          <a:xfrm>
            <a:off x="7493000" y="3467100"/>
            <a:ext cx="63500" cy="787400"/>
          </a:xfrm>
          <a:prstGeom prst="rect">
            <a:avLst/>
          </a:prstGeom>
          <a:solidFill>
            <a:srgbClr val="32B496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41" name="Text 41"/>
          <p:cNvSpPr txBox="1"/>
          <p:nvPr/>
        </p:nvSpPr>
        <p:spPr>
          <a:xfrm>
            <a:off x="7683500" y="3467100"/>
            <a:ext cx="3822700" cy="787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1500" b="1" dirty="0">
                <a:solidFill>
                  <a:srgbClr val="5F1937"/>
                </a:solidFill>
                <a:latin typeface="Calibri"/>
                <a:cs typeface="Calibri"/>
              </a:rPr>
              <a:t>Binomial tree (CRR)</a:t>
            </a:r>
            <a:endParaRPr lang="en-GB" sz="15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1400" dirty="0">
                <a:solidFill>
                  <a:srgbClr val="2B2B2B"/>
                </a:solidFill>
                <a:latin typeface="Calibri"/>
                <a:cs typeface="Calibri"/>
              </a:rPr>
              <a:t>computes (2) by enumerating a lattice</a:t>
            </a:r>
            <a:endParaRPr lang="en-GB" sz="1400" dirty="0"/>
          </a:p>
        </p:txBody>
      </p:sp>
      <p:sp>
        <p:nvSpPr>
          <p:cNvPr id="50" name="Shape 50"/>
          <p:cNvSpPr/>
          <p:nvPr/>
        </p:nvSpPr>
        <p:spPr>
          <a:xfrm>
            <a:off x="571500" y="4699000"/>
            <a:ext cx="11061700" cy="787400"/>
          </a:xfrm>
          <a:prstGeom prst="rect">
            <a:avLst/>
          </a:prstGeom>
          <a:solidFill>
            <a:srgbClr val="EDE5E8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51" name="Text 51"/>
          <p:cNvSpPr txBox="1"/>
          <p:nvPr/>
        </p:nvSpPr>
        <p:spPr>
          <a:xfrm>
            <a:off x="825500" y="4699000"/>
            <a:ext cx="10541000" cy="787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1500" dirty="0">
                <a:solidFill>
                  <a:srgbClr val="2B2B2B"/>
                </a:solidFill>
                <a:latin typeface="Calibri"/>
                <a:cs typeface="Calibri"/>
              </a:rPr>
              <a:t>All three compute the same number, so they </a:t>
            </a:r>
            <a:r>
              <a:rPr lang="en-GB" sz="1500" b="1" dirty="0">
                <a:solidFill>
                  <a:srgbClr val="2B2B2B"/>
                </a:solidFill>
                <a:latin typeface="Calibri"/>
                <a:cs typeface="Calibri"/>
              </a:rPr>
              <a:t>must agree</a:t>
            </a:r>
            <a:r>
              <a:rPr lang="en-GB" sz="1500" dirty="0">
                <a:solidFill>
                  <a:srgbClr val="2B2B2B"/>
                </a:solidFill>
                <a:latin typeface="Calibri"/>
                <a:cs typeface="Calibri"/>
              </a:rPr>
              <a:t>. What differs is </a:t>
            </a:r>
            <a:r>
              <a:rPr lang="en-GB" sz="1500" b="1" dirty="0">
                <a:solidFill>
                  <a:srgbClr val="2B2B2B"/>
                </a:solidFill>
                <a:latin typeface="Calibri"/>
                <a:cs typeface="Calibri"/>
              </a:rPr>
              <a:t>speed</a:t>
            </a:r>
            <a:r>
              <a:rPr lang="en-GB" sz="1500" dirty="0">
                <a:solidFill>
                  <a:srgbClr val="2B2B2B"/>
                </a:solidFill>
                <a:latin typeface="Calibri"/>
                <a:cs typeface="Calibri"/>
              </a:rPr>
              <a:t> and the </a:t>
            </a:r>
            <a:r>
              <a:rPr lang="en-GB" sz="1500" b="1" dirty="0">
                <a:solidFill>
                  <a:srgbClr val="2B2B2B"/>
                </a:solidFill>
                <a:latin typeface="Calibri"/>
                <a:cs typeface="Calibri"/>
              </a:rPr>
              <a:t>type of error</a:t>
            </a:r>
            <a:r>
              <a:rPr lang="en-GB" sz="1500" dirty="0">
                <a:solidFill>
                  <a:srgbClr val="2B2B2B"/>
                </a:solidFill>
                <a:latin typeface="Calibri"/>
                <a:cs typeface="Calibri"/>
              </a:rPr>
              <a:t>.</a:t>
            </a:r>
            <a:endParaRPr lang="en-GB" sz="15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B2FB01F-3E38-1CC8-9D3D-D14C2828F576}"/>
              </a:ext>
            </a:extLst>
          </p:cNvPr>
          <p:cNvSpPr/>
          <p:nvPr/>
        </p:nvSpPr>
        <p:spPr>
          <a:xfrm>
            <a:off x="3665270" y="4433619"/>
            <a:ext cx="3859480" cy="131816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Better formulas, looking like real formulas, add formula of d1 and d2</a:t>
            </a:r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131073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38912"/>
            <a:ext cx="420624" cy="420624"/>
          </a:xfrm>
          <a:prstGeom prst="rect">
            <a:avLst/>
          </a:prstGeom>
          <a:solidFill>
            <a:srgbClr val="32B496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Text 1"/>
          <p:cNvSpPr txBox="1"/>
          <p:nvPr/>
        </p:nvSpPr>
        <p:spPr>
          <a:xfrm>
            <a:off x="566928" y="4389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GB" sz="1600" b="1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4" name="Text 2"/>
          <p:cNvSpPr txBox="1"/>
          <p:nvPr/>
        </p:nvSpPr>
        <p:spPr>
          <a:xfrm>
            <a:off x="1188720" y="384048"/>
            <a:ext cx="1043604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2800" b="1" dirty="0">
                <a:solidFill>
                  <a:srgbClr val="5F1937"/>
                </a:solidFill>
                <a:latin typeface="Calibri"/>
                <a:cs typeface="Calibri"/>
              </a:rPr>
              <a:t>Pricing</a:t>
            </a:r>
            <a:r>
              <a:rPr lang="en-GB" sz="2000" dirty="0">
                <a:solidFill>
                  <a:srgbClr val="6B6B6B"/>
                </a:solidFill>
                <a:latin typeface="Calibri"/>
                <a:cs typeface="Calibri"/>
              </a:rPr>
              <a:t>   Results</a:t>
            </a:r>
          </a:p>
        </p:txBody>
      </p:sp>
      <p:sp>
        <p:nvSpPr>
          <p:cNvPr id="14" name="Text 12"/>
          <p:cNvSpPr txBox="1"/>
          <p:nvPr/>
        </p:nvSpPr>
        <p:spPr>
          <a:xfrm>
            <a:off x="566928" y="643737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EDHEC Business School  |  FIN 6999 Financial Derivatives  |  Mid-term project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1076127" y="6437376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GB" sz="1000" b="1" dirty="0">
                <a:solidFill>
                  <a:srgbClr val="5F1937"/>
                </a:solidFill>
                <a:latin typeface="Calibri"/>
                <a:cs typeface="Calibri"/>
              </a:rPr>
              <a:t>4</a:t>
            </a:r>
          </a:p>
        </p:txBody>
      </p:sp>
      <p:graphicFrame>
        <p:nvGraphicFramePr>
          <p:cNvPr id="20" name="Table 20"/>
          <p:cNvGraphicFramePr>
            <a:graphicFrameLocks noGrp="1"/>
          </p:cNvGraphicFramePr>
          <p:nvPr/>
        </p:nvGraphicFramePr>
        <p:xfrm>
          <a:off x="571500" y="1270000"/>
          <a:ext cx="11061700" cy="1727200"/>
        </p:xfrm>
        <a:graphic>
          <a:graphicData uri="http://schemas.openxmlformats.org/drawingml/2006/table">
            <a:tbl>
              <a:tblPr firstRow="1"/>
              <a:tblGrid>
                <a:gridCol w="292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177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500" b="1" dirty="0">
                          <a:solidFill>
                            <a:srgbClr val="5F1937"/>
                          </a:solidFill>
                          <a:latin typeface="Calibri"/>
                          <a:cs typeface="Calibri"/>
                        </a:rPr>
                        <a:t>Method</a:t>
                      </a:r>
                    </a:p>
                  </a:txBody>
                  <a:tcPr marL="76200" marR="762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5875">
                      <a:solidFill>
                        <a:srgbClr val="5F193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500" b="1" dirty="0">
                          <a:solidFill>
                            <a:srgbClr val="5F1937"/>
                          </a:solidFill>
                          <a:latin typeface="Calibri"/>
                          <a:cs typeface="Calibri"/>
                        </a:rPr>
                        <a:t>Settings</a:t>
                      </a:r>
                    </a:p>
                  </a:txBody>
                  <a:tcPr marL="76200" marR="762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5875">
                      <a:solidFill>
                        <a:srgbClr val="5F193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500" b="1" dirty="0">
                          <a:solidFill>
                            <a:srgbClr val="5F1937"/>
                          </a:solidFill>
                          <a:latin typeface="Calibri"/>
                          <a:cs typeface="Calibri"/>
                        </a:rPr>
                        <a:t>Call price</a:t>
                      </a:r>
                    </a:p>
                  </a:txBody>
                  <a:tcPr marL="76200" marR="762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5875">
                      <a:solidFill>
                        <a:srgbClr val="5F193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500" b="1" dirty="0">
                          <a:solidFill>
                            <a:srgbClr val="5F1937"/>
                          </a:solidFill>
                          <a:latin typeface="Calibri"/>
                          <a:cs typeface="Calibri"/>
                        </a:rPr>
                        <a:t>Error vs BS</a:t>
                      </a:r>
                    </a:p>
                  </a:txBody>
                  <a:tcPr marL="76200" marR="762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5875">
                      <a:solidFill>
                        <a:srgbClr val="5F193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500" b="1" dirty="0">
                          <a:solidFill>
                            <a:srgbClr val="5F1937"/>
                          </a:solidFill>
                          <a:latin typeface="Calibri"/>
                          <a:cs typeface="Calibri"/>
                        </a:rPr>
                        <a:t>Uncertainty</a:t>
                      </a:r>
                    </a:p>
                  </a:txBody>
                  <a:tcPr marL="76200" marR="762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5875">
                      <a:solidFill>
                        <a:srgbClr val="5F1937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500" b="1" dirty="0">
                          <a:solidFill>
                            <a:srgbClr val="2B2B2B"/>
                          </a:solidFill>
                          <a:latin typeface="Calibri"/>
                          <a:cs typeface="Calibri"/>
                        </a:rPr>
                        <a:t>Black-Scholes</a:t>
                      </a:r>
                    </a:p>
                  </a:txBody>
                  <a:tcPr marL="76200" marR="76200" marT="25400" marB="25400" anchor="ctr">
                    <a:lnL w="0">
                      <a:noFill/>
                    </a:lnL>
                    <a:lnR w="0">
                      <a:noFill/>
                    </a:lnR>
                    <a:lnT w="15875" cap="flat" cmpd="sng" algn="ctr">
                      <a:solidFill>
                        <a:srgbClr val="5F1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3F4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500" dirty="0">
                          <a:solidFill>
                            <a:srgbClr val="2B2B2B"/>
                          </a:solidFill>
                          <a:latin typeface="Calibri"/>
                          <a:cs typeface="Calibri"/>
                        </a:rPr>
                        <a:t>closed form</a:t>
                      </a:r>
                    </a:p>
                  </a:txBody>
                  <a:tcPr marL="76200" marR="76200" marT="25400" marB="25400" anchor="ctr">
                    <a:lnL w="0">
                      <a:noFill/>
                    </a:lnL>
                    <a:lnR w="0">
                      <a:noFill/>
                    </a:lnR>
                    <a:lnT w="15875" cap="flat" cmpd="sng" algn="ctr">
                      <a:solidFill>
                        <a:srgbClr val="5F1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3F4E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500" b="1" dirty="0">
                          <a:solidFill>
                            <a:srgbClr val="2B2B2B"/>
                          </a:solidFill>
                          <a:latin typeface="Calibri"/>
                          <a:cs typeface="Calibri"/>
                        </a:rPr>
                        <a:t>9.8940</a:t>
                      </a:r>
                    </a:p>
                  </a:txBody>
                  <a:tcPr marL="76200" marR="76200" marT="25400" marB="25400" anchor="ctr">
                    <a:lnL w="0">
                      <a:noFill/>
                    </a:lnL>
                    <a:lnR w="0">
                      <a:noFill/>
                    </a:lnR>
                    <a:lnT w="15875" cap="flat" cmpd="sng" algn="ctr">
                      <a:solidFill>
                        <a:srgbClr val="5F1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3F4E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500" dirty="0">
                          <a:solidFill>
                            <a:srgbClr val="2B2B2B"/>
                          </a:solidFill>
                          <a:latin typeface="Calibri"/>
                          <a:cs typeface="Calibri"/>
                        </a:rPr>
                        <a:t>–</a:t>
                      </a:r>
                    </a:p>
                  </a:txBody>
                  <a:tcPr marL="76200" marR="76200" marT="25400" marB="25400" anchor="ctr">
                    <a:lnL w="0">
                      <a:noFill/>
                    </a:lnL>
                    <a:lnR w="0">
                      <a:noFill/>
                    </a:lnR>
                    <a:lnT w="15875" cap="flat" cmpd="sng" algn="ctr">
                      <a:solidFill>
                        <a:srgbClr val="5F1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3F4E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500" dirty="0">
                          <a:solidFill>
                            <a:srgbClr val="2B2B2B"/>
                          </a:solidFill>
                          <a:latin typeface="Calibri"/>
                          <a:cs typeface="Calibri"/>
                        </a:rPr>
                        <a:t>none (exact)</a:t>
                      </a:r>
                    </a:p>
                  </a:txBody>
                  <a:tcPr marL="76200" marR="76200" marT="25400" marB="25400" anchor="ctr">
                    <a:lnL w="0">
                      <a:noFill/>
                    </a:lnL>
                    <a:lnR w="0">
                      <a:noFill/>
                    </a:lnR>
                    <a:lnT w="15875" cap="flat" cmpd="sng" algn="ctr">
                      <a:solidFill>
                        <a:srgbClr val="5F1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3F4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500" b="1" dirty="0">
                          <a:solidFill>
                            <a:srgbClr val="2B2B2B"/>
                          </a:solidFill>
                          <a:latin typeface="Calibri"/>
                          <a:cs typeface="Calibri"/>
                        </a:rPr>
                        <a:t>Monte Carlo</a:t>
                      </a:r>
                    </a:p>
                  </a:txBody>
                  <a:tcPr marL="76200" marR="76200" marT="25400" marB="254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500" dirty="0">
                          <a:solidFill>
                            <a:srgbClr val="2B2B2B"/>
                          </a:solidFill>
                          <a:latin typeface="Calibri"/>
                          <a:cs typeface="Calibri"/>
                        </a:rPr>
                        <a:t>10</a:t>
                      </a:r>
                      <a:r>
                        <a:rPr lang="en-GB" sz="1500" baseline="30000" dirty="0">
                          <a:solidFill>
                            <a:srgbClr val="2B2B2B"/>
                          </a:solidFill>
                          <a:latin typeface="Calibri"/>
                          <a:cs typeface="Calibri"/>
                        </a:rPr>
                        <a:t>8</a:t>
                      </a:r>
                      <a:r>
                        <a:rPr lang="en-GB" sz="1500" dirty="0">
                          <a:solidFill>
                            <a:srgbClr val="2B2B2B"/>
                          </a:solidFill>
                          <a:latin typeface="Calibri"/>
                          <a:cs typeface="Calibri"/>
                        </a:rPr>
                        <a:t> paths</a:t>
                      </a:r>
                    </a:p>
                  </a:txBody>
                  <a:tcPr marL="76200" marR="76200" marT="25400" marB="254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500" dirty="0">
                          <a:solidFill>
                            <a:srgbClr val="2B2B2B"/>
                          </a:solidFill>
                          <a:latin typeface="Calibri"/>
                          <a:cs typeface="Calibri"/>
                        </a:rPr>
                        <a:t>9.8959</a:t>
                      </a:r>
                    </a:p>
                  </a:txBody>
                  <a:tcPr marL="76200" marR="76200" marT="25400" marB="254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500" dirty="0">
                          <a:solidFill>
                            <a:srgbClr val="2B2B2B"/>
                          </a:solidFill>
                          <a:latin typeface="Calibri"/>
                          <a:cs typeface="Calibri"/>
                        </a:rPr>
                        <a:t>+0.0020</a:t>
                      </a:r>
                    </a:p>
                  </a:txBody>
                  <a:tcPr marL="76200" marR="76200" marT="25400" marB="254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500" dirty="0">
                          <a:solidFill>
                            <a:srgbClr val="2B2B2B"/>
                          </a:solidFill>
                          <a:latin typeface="Calibri"/>
                          <a:cs typeface="Calibri"/>
                        </a:rPr>
                        <a:t>SE 0.0014</a:t>
                      </a:r>
                    </a:p>
                  </a:txBody>
                  <a:tcPr marL="76200" marR="76200" marT="25400" marB="254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500" b="1" dirty="0">
                          <a:solidFill>
                            <a:srgbClr val="2B2B2B"/>
                          </a:solidFill>
                          <a:latin typeface="Calibri"/>
                          <a:cs typeface="Calibri"/>
                        </a:rPr>
                        <a:t>Binomial tree (CRR)</a:t>
                      </a:r>
                    </a:p>
                  </a:txBody>
                  <a:tcPr marL="76200" marR="76200" marT="25400" marB="254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500" dirty="0">
                          <a:solidFill>
                            <a:srgbClr val="2B2B2B"/>
                          </a:solidFill>
                          <a:latin typeface="Calibri"/>
                          <a:cs typeface="Calibri"/>
                        </a:rPr>
                        <a:t>10,000 steps</a:t>
                      </a:r>
                    </a:p>
                  </a:txBody>
                  <a:tcPr marL="76200" marR="76200" marT="25400" marB="254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500" dirty="0">
                          <a:solidFill>
                            <a:srgbClr val="2B2B2B"/>
                          </a:solidFill>
                          <a:latin typeface="Calibri"/>
                          <a:cs typeface="Calibri"/>
                        </a:rPr>
                        <a:t>9.8938</a:t>
                      </a:r>
                    </a:p>
                  </a:txBody>
                  <a:tcPr marL="76200" marR="76200" marT="25400" marB="254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500" dirty="0">
                          <a:solidFill>
                            <a:srgbClr val="2B2B2B"/>
                          </a:solidFill>
                          <a:latin typeface="Calibri"/>
                          <a:cs typeface="Calibri"/>
                        </a:rPr>
                        <a:t>−0.0002</a:t>
                      </a:r>
                    </a:p>
                  </a:txBody>
                  <a:tcPr marL="76200" marR="76200" marT="25400" marB="254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500" dirty="0">
                          <a:solidFill>
                            <a:srgbClr val="2B2B2B"/>
                          </a:solidFill>
                          <a:latin typeface="Calibri"/>
                          <a:cs typeface="Calibri"/>
                        </a:rPr>
                        <a:t>deterministic</a:t>
                      </a:r>
                    </a:p>
                  </a:txBody>
                  <a:tcPr marL="76200" marR="76200" marT="25400" marB="254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1" name="Text 21"/>
          <p:cNvSpPr txBox="1"/>
          <p:nvPr/>
        </p:nvSpPr>
        <p:spPr>
          <a:xfrm>
            <a:off x="571500" y="3175000"/>
            <a:ext cx="11061700" cy="101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203200" indent="-203200">
              <a:lnSpc>
                <a:spcPct val="100000"/>
              </a:lnSpc>
              <a:spcBef>
                <a:spcPts val="0"/>
              </a:spcBef>
              <a:buClr>
                <a:srgbClr val="32B496"/>
              </a:buClr>
              <a:buSzPct val="75000"/>
              <a:buFont typeface="Arial"/>
              <a:buChar char="►"/>
            </a:pPr>
            <a:r>
              <a:rPr lang="en-GB" sz="1500" dirty="0">
                <a:solidFill>
                  <a:srgbClr val="2B2B2B"/>
                </a:solidFill>
                <a:latin typeface="Calibri"/>
                <a:cs typeface="Calibri"/>
              </a:rPr>
              <a:t>Black-Scholes lies inside the Monte Carlo 95% confidence interval </a:t>
            </a:r>
            <a:r>
              <a:rPr lang="en-GB" sz="1500" b="1" dirty="0">
                <a:solidFill>
                  <a:srgbClr val="2B2B2B"/>
                </a:solidFill>
                <a:latin typeface="Calibri"/>
                <a:cs typeface="Calibri"/>
              </a:rPr>
              <a:t>[9.8931, 9.8988]</a:t>
            </a:r>
            <a:r>
              <a:rPr lang="en-GB" sz="1500" dirty="0">
                <a:solidFill>
                  <a:srgbClr val="2B2B2B"/>
                </a:solidFill>
                <a:latin typeface="Calibri"/>
                <a:cs typeface="Calibri"/>
              </a:rPr>
              <a:t>.</a:t>
            </a:r>
            <a:endParaRPr lang="en-GB" sz="1500" dirty="0"/>
          </a:p>
          <a:p>
            <a:pPr marL="203200" indent="-203200">
              <a:lnSpc>
                <a:spcPct val="100000"/>
              </a:lnSpc>
              <a:spcBef>
                <a:spcPts val="800"/>
              </a:spcBef>
              <a:buClr>
                <a:srgbClr val="32B496"/>
              </a:buClr>
              <a:buSzPct val="75000"/>
              <a:buFont typeface="Arial"/>
              <a:buChar char="►"/>
            </a:pPr>
            <a:r>
              <a:rPr lang="en-GB" sz="1500" dirty="0">
                <a:solidFill>
                  <a:srgbClr val="2B2B2B"/>
                </a:solidFill>
                <a:latin typeface="Calibri"/>
                <a:cs typeface="Calibri"/>
              </a:rPr>
              <a:t>The tree has the same error for the, so it respects put-call parity exactly: C − P = S</a:t>
            </a:r>
            <a:r>
              <a:rPr lang="en-GB" sz="1500" baseline="-25000" dirty="0">
                <a:solidFill>
                  <a:srgbClr val="2B2B2B"/>
                </a:solidFill>
                <a:latin typeface="Calibri"/>
                <a:cs typeface="Calibri"/>
              </a:rPr>
              <a:t>0</a:t>
            </a:r>
            <a:r>
              <a:rPr lang="en-GB" sz="1500" dirty="0">
                <a:solidFill>
                  <a:srgbClr val="2B2B2B"/>
                </a:solidFill>
                <a:latin typeface="Calibri"/>
                <a:cs typeface="Calibri"/>
              </a:rPr>
              <a:t> − Ke</a:t>
            </a:r>
            <a:r>
              <a:rPr lang="en-GB" sz="1500" baseline="30000" dirty="0">
                <a:solidFill>
                  <a:srgbClr val="2B2B2B"/>
                </a:solidFill>
                <a:latin typeface="Calibri"/>
                <a:cs typeface="Calibri"/>
              </a:rPr>
              <a:t>−rT</a:t>
            </a:r>
            <a:r>
              <a:rPr lang="en-GB" sz="1500" dirty="0">
                <a:solidFill>
                  <a:srgbClr val="2B2B2B"/>
                </a:solidFill>
                <a:latin typeface="Calibri"/>
                <a:cs typeface="Calibri"/>
              </a:rPr>
              <a:t> = 3.863.</a:t>
            </a:r>
            <a:endParaRPr lang="en-GB" sz="1500" dirty="0"/>
          </a:p>
        </p:txBody>
      </p:sp>
      <p:sp>
        <p:nvSpPr>
          <p:cNvPr id="30" name="Shape 30"/>
          <p:cNvSpPr/>
          <p:nvPr/>
        </p:nvSpPr>
        <p:spPr>
          <a:xfrm>
            <a:off x="571500" y="4381500"/>
            <a:ext cx="11061700" cy="609600"/>
          </a:xfrm>
          <a:prstGeom prst="rect">
            <a:avLst/>
          </a:prstGeom>
          <a:solidFill>
            <a:srgbClr val="EDE5E8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31" name="Shape 31"/>
          <p:cNvSpPr/>
          <p:nvPr/>
        </p:nvSpPr>
        <p:spPr>
          <a:xfrm>
            <a:off x="571500" y="4381500"/>
            <a:ext cx="63500" cy="609600"/>
          </a:xfrm>
          <a:prstGeom prst="rect">
            <a:avLst/>
          </a:prstGeom>
          <a:solidFill>
            <a:srgbClr val="32B496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32" name="Text 32"/>
          <p:cNvSpPr txBox="1"/>
          <p:nvPr/>
        </p:nvSpPr>
        <p:spPr>
          <a:xfrm>
            <a:off x="825500" y="4381500"/>
            <a:ext cx="105410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1500" dirty="0">
                <a:solidFill>
                  <a:srgbClr val="2B2B2B"/>
                </a:solidFill>
                <a:latin typeface="Calibri"/>
                <a:cs typeface="Calibri"/>
              </a:rPr>
              <a:t>Every engine lands </a:t>
            </a:r>
            <a:r>
              <a:rPr lang="en-GB" sz="1500" b="1" dirty="0">
                <a:solidFill>
                  <a:srgbClr val="2B2B2B"/>
                </a:solidFill>
                <a:latin typeface="Calibri"/>
                <a:cs typeface="Calibri"/>
              </a:rPr>
              <a:t>within a quarter of a cent</a:t>
            </a:r>
            <a:r>
              <a:rPr lang="en-GB" sz="1500" dirty="0">
                <a:solidFill>
                  <a:srgbClr val="2B2B2B"/>
                </a:solidFill>
                <a:latin typeface="Calibri"/>
                <a:cs typeface="Calibri"/>
              </a:rPr>
              <a:t> of the Black-Scholes price.</a:t>
            </a:r>
            <a:endParaRPr lang="en-GB" sz="15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0FB4EE8-DE44-0DC3-C47D-6FEC9FCA2E5C}"/>
              </a:ext>
            </a:extLst>
          </p:cNvPr>
          <p:cNvSpPr/>
          <p:nvPr/>
        </p:nvSpPr>
        <p:spPr>
          <a:xfrm>
            <a:off x="5710630" y="4686300"/>
            <a:ext cx="3859480" cy="131816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Also include visualization of price convergence</a:t>
            </a:r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1718671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38912"/>
            <a:ext cx="420624" cy="420624"/>
          </a:xfrm>
          <a:prstGeom prst="rect">
            <a:avLst/>
          </a:prstGeom>
          <a:solidFill>
            <a:srgbClr val="32B496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Text 1"/>
          <p:cNvSpPr txBox="1"/>
          <p:nvPr/>
        </p:nvSpPr>
        <p:spPr>
          <a:xfrm>
            <a:off x="566928" y="4389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GB" sz="1600" b="1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4" name="Text 2"/>
          <p:cNvSpPr txBox="1"/>
          <p:nvPr/>
        </p:nvSpPr>
        <p:spPr>
          <a:xfrm>
            <a:off x="1188720" y="384048"/>
            <a:ext cx="1043604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2800" b="1" dirty="0">
                <a:solidFill>
                  <a:srgbClr val="5F1937"/>
                </a:solidFill>
                <a:latin typeface="Calibri"/>
                <a:cs typeface="Calibri"/>
              </a:rPr>
              <a:t>Pricing</a:t>
            </a:r>
            <a:r>
              <a:rPr lang="en-GB" sz="2000" dirty="0">
                <a:solidFill>
                  <a:srgbClr val="6B6B6B"/>
                </a:solidFill>
                <a:latin typeface="Calibri"/>
                <a:cs typeface="Calibri"/>
              </a:rPr>
              <a:t>   Convergence</a:t>
            </a:r>
          </a:p>
        </p:txBody>
      </p:sp>
      <p:sp>
        <p:nvSpPr>
          <p:cNvPr id="14" name="Text 12"/>
          <p:cNvSpPr txBox="1"/>
          <p:nvPr/>
        </p:nvSpPr>
        <p:spPr>
          <a:xfrm>
            <a:off x="566928" y="643737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EDHEC Business School  |  FIN 6999 Financial Derivatives  |  Mid-term project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1076127" y="6437376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GB" sz="1000" b="1" dirty="0">
                <a:solidFill>
                  <a:srgbClr val="5F1937"/>
                </a:solidFill>
                <a:latin typeface="Calibri"/>
                <a:cs typeface="Calibri"/>
              </a:rPr>
              <a:t>5</a:t>
            </a:r>
          </a:p>
        </p:txBody>
      </p:sp>
      <p:pic>
        <p:nvPicPr>
          <p:cNvPr id="16" name="Monte Carlo standard error vs number of simulations (log-log)" descr="Monte Carlo standard error vs number of simulations (log-log)">
            <a:extLst>
              <a:ext uri="{FF2B5EF4-FFF2-40B4-BE49-F238E27FC236}">
                <a16:creationId xmlns:a16="http://schemas.microsoft.com/office/drawing/2014/main" id="{0619B970-1785-0517-7DE2-9E1972C1980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0000" t="52300"/>
          <a:stretch>
            <a:fillRect/>
          </a:stretch>
        </p:blipFill>
        <p:spPr>
          <a:xfrm>
            <a:off x="825500" y="1701800"/>
            <a:ext cx="4572000" cy="3187700"/>
          </a:xfrm>
          <a:prstGeom prst="rect">
            <a:avLst/>
          </a:prstGeom>
        </p:spPr>
      </p:pic>
      <p:pic>
        <p:nvPicPr>
          <p:cNvPr id="17" name="Tree pricing error vs number of steps (log-log)" descr="Tree pricing error vs number of steps (log-log)">
            <a:extLst>
              <a:ext uri="{FF2B5EF4-FFF2-40B4-BE49-F238E27FC236}">
                <a16:creationId xmlns:a16="http://schemas.microsoft.com/office/drawing/2014/main" id="{F0162F77-FDF2-BBAF-1F80-D37BD6394A3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8500"/>
          <a:stretch>
            <a:fillRect/>
          </a:stretch>
        </p:blipFill>
        <p:spPr>
          <a:xfrm>
            <a:off x="7251700" y="1701800"/>
            <a:ext cx="3416300" cy="3187700"/>
          </a:xfrm>
          <a:prstGeom prst="rect">
            <a:avLst/>
          </a:prstGeom>
        </p:spPr>
      </p:pic>
      <p:sp>
        <p:nvSpPr>
          <p:cNvPr id="20" name="Text 20"/>
          <p:cNvSpPr txBox="1"/>
          <p:nvPr/>
        </p:nvSpPr>
        <p:spPr>
          <a:xfrm>
            <a:off x="571500" y="1206500"/>
            <a:ext cx="5334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GB" b="1" dirty="0">
                <a:solidFill>
                  <a:srgbClr val="5F1937"/>
                </a:solidFill>
                <a:latin typeface="Calibri"/>
                <a:cs typeface="Calibri"/>
              </a:rPr>
              <a:t>Monte Carlo:  error ∝ 1/sqrt(M)</a:t>
            </a:r>
            <a:endParaRPr lang="en-GB" dirty="0"/>
          </a:p>
        </p:txBody>
      </p:sp>
      <p:cxnSp>
        <p:nvCxnSpPr>
          <p:cNvPr id="40" name="Line 40"/>
          <p:cNvCxnSpPr/>
          <p:nvPr/>
        </p:nvCxnSpPr>
        <p:spPr>
          <a:xfrm>
            <a:off x="571500" y="1549400"/>
            <a:ext cx="5334000" cy="0"/>
          </a:xfrm>
          <a:prstGeom prst="line">
            <a:avLst/>
          </a:prstGeom>
          <a:ln w="19050">
            <a:solidFill>
              <a:srgbClr val="32B496"/>
            </a:solidFill>
          </a:ln>
        </p:spPr>
      </p:cxnSp>
      <p:sp>
        <p:nvSpPr>
          <p:cNvPr id="21" name="Text 21"/>
          <p:cNvSpPr txBox="1"/>
          <p:nvPr/>
        </p:nvSpPr>
        <p:spPr>
          <a:xfrm>
            <a:off x="571500" y="4978400"/>
            <a:ext cx="53340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buNone/>
            </a:pPr>
            <a:r>
              <a:rPr lang="en-GB" sz="1300" dirty="0">
                <a:solidFill>
                  <a:srgbClr val="2B2B2B"/>
                </a:solidFill>
                <a:latin typeface="Calibri"/>
                <a:cs typeface="Calibri"/>
              </a:rPr>
              <a:t>Variance of a mean of M i.i.d. payoffs is s</a:t>
            </a:r>
            <a:r>
              <a:rPr lang="en-GB" sz="1300" baseline="30000" dirty="0">
                <a:solidFill>
                  <a:srgbClr val="2B2B2B"/>
                </a:solidFill>
                <a:latin typeface="Calibri"/>
                <a:cs typeface="Calibri"/>
              </a:rPr>
              <a:t>2</a:t>
            </a:r>
            <a:r>
              <a:rPr lang="en-GB" sz="1300" dirty="0">
                <a:solidFill>
                  <a:srgbClr val="2B2B2B"/>
                </a:solidFill>
                <a:latin typeface="Calibri"/>
                <a:cs typeface="Calibri"/>
              </a:rPr>
              <a:t>/M (CLT). SE 1.0 → 0.014 → 0.0014 at M = 10</a:t>
            </a:r>
            <a:r>
              <a:rPr lang="en-GB" sz="1300" baseline="30000" dirty="0">
                <a:solidFill>
                  <a:srgbClr val="2B2B2B"/>
                </a:solidFill>
                <a:latin typeface="Calibri"/>
                <a:cs typeface="Calibri"/>
              </a:rPr>
              <a:t>2</a:t>
            </a:r>
            <a:r>
              <a:rPr lang="en-GB" sz="1300" dirty="0">
                <a:solidFill>
                  <a:srgbClr val="2B2B2B"/>
                </a:solidFill>
                <a:latin typeface="Calibri"/>
                <a:cs typeface="Calibri"/>
              </a:rPr>
              <a:t>, 10</a:t>
            </a:r>
            <a:r>
              <a:rPr lang="en-GB" sz="1300" baseline="30000" dirty="0">
                <a:solidFill>
                  <a:srgbClr val="2B2B2B"/>
                </a:solidFill>
                <a:latin typeface="Calibri"/>
                <a:cs typeface="Calibri"/>
              </a:rPr>
              <a:t>6</a:t>
            </a:r>
            <a:r>
              <a:rPr lang="en-GB" sz="1300" dirty="0">
                <a:solidFill>
                  <a:srgbClr val="2B2B2B"/>
                </a:solidFill>
                <a:latin typeface="Calibri"/>
                <a:cs typeface="Calibri"/>
              </a:rPr>
              <a:t>, 10</a:t>
            </a:r>
            <a:r>
              <a:rPr lang="en-GB" sz="1300" baseline="30000" dirty="0">
                <a:solidFill>
                  <a:srgbClr val="2B2B2B"/>
                </a:solidFill>
                <a:latin typeface="Calibri"/>
                <a:cs typeface="Calibri"/>
              </a:rPr>
              <a:t>8</a:t>
            </a:r>
            <a:r>
              <a:rPr lang="en-GB" sz="1300" dirty="0">
                <a:solidFill>
                  <a:srgbClr val="2B2B2B"/>
                </a:solidFill>
                <a:latin typeface="Calibri"/>
                <a:cs typeface="Calibri"/>
              </a:rPr>
              <a:t>.</a:t>
            </a:r>
            <a:endParaRPr lang="en-GB" sz="1300" dirty="0"/>
          </a:p>
        </p:txBody>
      </p:sp>
      <p:sp>
        <p:nvSpPr>
          <p:cNvPr id="22" name="Text 22"/>
          <p:cNvSpPr txBox="1"/>
          <p:nvPr/>
        </p:nvSpPr>
        <p:spPr>
          <a:xfrm>
            <a:off x="6299200" y="1206500"/>
            <a:ext cx="5334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GB" b="1" dirty="0">
                <a:solidFill>
                  <a:srgbClr val="5F1937"/>
                </a:solidFill>
                <a:latin typeface="Calibri"/>
                <a:cs typeface="Calibri"/>
              </a:rPr>
              <a:t>Binomial tree:  error ∝ 1/N</a:t>
            </a:r>
            <a:endParaRPr lang="en-GB" dirty="0"/>
          </a:p>
        </p:txBody>
      </p:sp>
      <p:cxnSp>
        <p:nvCxnSpPr>
          <p:cNvPr id="41" name="Line 41"/>
          <p:cNvCxnSpPr/>
          <p:nvPr/>
        </p:nvCxnSpPr>
        <p:spPr>
          <a:xfrm>
            <a:off x="6299200" y="1549400"/>
            <a:ext cx="5334000" cy="0"/>
          </a:xfrm>
          <a:prstGeom prst="line">
            <a:avLst/>
          </a:prstGeom>
          <a:ln w="19050">
            <a:solidFill>
              <a:srgbClr val="32B496"/>
            </a:solidFill>
          </a:ln>
        </p:spPr>
      </p:cxnSp>
      <p:sp>
        <p:nvSpPr>
          <p:cNvPr id="23" name="Text 23"/>
          <p:cNvSpPr txBox="1"/>
          <p:nvPr/>
        </p:nvSpPr>
        <p:spPr>
          <a:xfrm>
            <a:off x="6299200" y="4978400"/>
            <a:ext cx="53340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buNone/>
            </a:pPr>
            <a:r>
              <a:rPr lang="en-GB" sz="1300" dirty="0">
                <a:solidFill>
                  <a:srgbClr val="2B2B2B"/>
                </a:solidFill>
                <a:latin typeface="Calibri"/>
                <a:cs typeface="Calibri"/>
              </a:rPr>
              <a:t>log S</a:t>
            </a:r>
            <a:r>
              <a:rPr lang="en-GB" sz="1300" baseline="-25000" dirty="0">
                <a:solidFill>
                  <a:srgbClr val="2B2B2B"/>
                </a:solidFill>
                <a:latin typeface="Calibri"/>
                <a:cs typeface="Calibri"/>
              </a:rPr>
              <a:t>T</a:t>
            </a:r>
            <a:r>
              <a:rPr lang="en-GB" sz="1300" dirty="0">
                <a:solidFill>
                  <a:srgbClr val="2B2B2B"/>
                </a:solidFill>
                <a:latin typeface="Calibri"/>
                <a:cs typeface="Calibri"/>
              </a:rPr>
              <a:t> on the lattice tends to a Gaussian. The error zig-zags: K falls on or between nodes (odd/even N).</a:t>
            </a:r>
            <a:endParaRPr lang="en-GB" sz="1300" dirty="0"/>
          </a:p>
        </p:txBody>
      </p:sp>
      <p:sp>
        <p:nvSpPr>
          <p:cNvPr id="50" name="Shape 50"/>
          <p:cNvSpPr/>
          <p:nvPr/>
        </p:nvSpPr>
        <p:spPr>
          <a:xfrm>
            <a:off x="571500" y="5664200"/>
            <a:ext cx="11061700" cy="558800"/>
          </a:xfrm>
          <a:prstGeom prst="rect">
            <a:avLst/>
          </a:prstGeom>
          <a:solidFill>
            <a:srgbClr val="EDE5E8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51" name="Shape 51"/>
          <p:cNvSpPr/>
          <p:nvPr/>
        </p:nvSpPr>
        <p:spPr>
          <a:xfrm>
            <a:off x="571500" y="5664200"/>
            <a:ext cx="63500" cy="558800"/>
          </a:xfrm>
          <a:prstGeom prst="rect">
            <a:avLst/>
          </a:prstGeom>
          <a:solidFill>
            <a:srgbClr val="32B496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52" name="Text 52"/>
          <p:cNvSpPr txBox="1"/>
          <p:nvPr/>
        </p:nvSpPr>
        <p:spPr>
          <a:xfrm>
            <a:off x="825500" y="5664200"/>
            <a:ext cx="10541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1400" dirty="0">
                <a:solidFill>
                  <a:srgbClr val="2B2B2B"/>
                </a:solidFill>
                <a:latin typeface="Calibri"/>
                <a:cs typeface="Calibri"/>
              </a:rPr>
              <a:t>10× more effort gives </a:t>
            </a:r>
            <a:r>
              <a:rPr lang="en-GB" sz="1400" b="1" dirty="0">
                <a:solidFill>
                  <a:srgbClr val="2B2B2B"/>
                </a:solidFill>
                <a:latin typeface="Calibri"/>
                <a:cs typeface="Calibri"/>
              </a:rPr>
              <a:t>3.2× / 10× smaller error</a:t>
            </a:r>
            <a:r>
              <a:rPr lang="en-GB" sz="1400" dirty="0">
                <a:solidFill>
                  <a:srgbClr val="2B2B2B"/>
                </a:solidFill>
                <a:latin typeface="Calibri"/>
                <a:cs typeface="Calibri"/>
              </a:rPr>
              <a:t>. The slope on the log-log plot is the order of convergence.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14147438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5F19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66928" y="2011680"/>
            <a:ext cx="344210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D9C3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0.0014</a:t>
            </a:r>
            <a:endParaRPr lang="en-US" sz="6000" dirty="0"/>
          </a:p>
        </p:txBody>
      </p:sp>
      <p:sp>
        <p:nvSpPr>
          <p:cNvPr id="4" name="Shape 2"/>
          <p:cNvSpPr/>
          <p:nvPr/>
        </p:nvSpPr>
        <p:spPr>
          <a:xfrm>
            <a:off x="566928" y="3291840"/>
            <a:ext cx="2984906" cy="0"/>
          </a:xfrm>
          <a:prstGeom prst="line">
            <a:avLst/>
          </a:prstGeom>
          <a:noFill/>
          <a:ln w="19050">
            <a:solidFill>
              <a:srgbClr val="8C5C72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5" name="Text 3"/>
          <p:cNvSpPr txBox="1"/>
          <p:nvPr/>
        </p:nvSpPr>
        <p:spPr>
          <a:xfrm>
            <a:off x="566928" y="3429000"/>
            <a:ext cx="307634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EDE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Carlo standard error (10⁸ paths): statistical, random and unbiased. We report Ĉ ± 1.96 SE.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374794" y="2011680"/>
            <a:ext cx="344210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D9C3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0.0002</a:t>
            </a:r>
            <a:endParaRPr lang="en-US" sz="6000" dirty="0"/>
          </a:p>
        </p:txBody>
      </p:sp>
      <p:sp>
        <p:nvSpPr>
          <p:cNvPr id="7" name="Shape 5"/>
          <p:cNvSpPr/>
          <p:nvPr/>
        </p:nvSpPr>
        <p:spPr>
          <a:xfrm>
            <a:off x="4374794" y="3291840"/>
            <a:ext cx="2984906" cy="0"/>
          </a:xfrm>
          <a:prstGeom prst="line">
            <a:avLst/>
          </a:prstGeom>
          <a:noFill/>
          <a:ln w="19050">
            <a:solidFill>
              <a:srgbClr val="8C5C72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8" name="Text 6"/>
          <p:cNvSpPr txBox="1"/>
          <p:nvPr/>
        </p:nvSpPr>
        <p:spPr>
          <a:xfrm>
            <a:off x="4374794" y="3429000"/>
            <a:ext cx="307634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EDE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bias (10,000 steps): deterministic, no confidence interval, size known from the order 1/N.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182661" y="2011680"/>
            <a:ext cx="344210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32B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0.38</a:t>
            </a:r>
            <a:endParaRPr lang="en-US" sz="6000" dirty="0"/>
          </a:p>
        </p:txBody>
      </p:sp>
      <p:sp>
        <p:nvSpPr>
          <p:cNvPr id="10" name="Shape 8"/>
          <p:cNvSpPr/>
          <p:nvPr/>
        </p:nvSpPr>
        <p:spPr>
          <a:xfrm>
            <a:off x="8182661" y="3291840"/>
            <a:ext cx="2984906" cy="0"/>
          </a:xfrm>
          <a:prstGeom prst="line">
            <a:avLst/>
          </a:prstGeom>
          <a:noFill/>
          <a:ln w="19050">
            <a:solidFill>
              <a:srgbClr val="8C5C72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1" name="Text 9"/>
          <p:cNvSpPr txBox="1"/>
          <p:nvPr/>
        </p:nvSpPr>
        <p:spPr>
          <a:xfrm>
            <a:off x="8182661" y="3429000"/>
            <a:ext cx="307634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EDE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change from 1 vol point in σ (vega × 0.01): about 200× the MC standard error.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1076127" y="6437376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GB" sz="1000" b="1" dirty="0">
                <a:solidFill>
                  <a:srgbClr val="FFFFFF"/>
                </a:solidFill>
                <a:latin typeface="Calibri"/>
                <a:cs typeface="Calibri"/>
              </a:rPr>
              <a:t>6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571500" y="1270000"/>
            <a:ext cx="110617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203200" indent="-203200">
              <a:lnSpc>
                <a:spcPct val="100000"/>
              </a:lnSpc>
              <a:spcBef>
                <a:spcPts val="0"/>
              </a:spcBef>
              <a:buClr>
                <a:srgbClr val="32B496"/>
              </a:buClr>
              <a:buSzPct val="75000"/>
              <a:buFont typeface="Arial"/>
              <a:buChar char="►"/>
            </a:pPr>
            <a:r>
              <a:rPr lang="en-GB" sz="1600" dirty="0">
                <a:solidFill>
                  <a:srgbClr val="FFFFFF"/>
                </a:solidFill>
                <a:latin typeface="Calibri"/>
                <a:cs typeface="Calibri"/>
              </a:rPr>
              <a:t>Error = bias + noise. </a:t>
            </a:r>
            <a:r>
              <a:rPr lang="en-GB" sz="1600" b="1" dirty="0">
                <a:solidFill>
                  <a:srgbClr val="FFFFFF"/>
                </a:solidFill>
                <a:latin typeface="Calibri"/>
                <a:cs typeface="Calibri"/>
              </a:rPr>
              <a:t>Which error is the largest?</a:t>
            </a:r>
            <a:endParaRPr lang="en-GB" sz="1600" dirty="0"/>
          </a:p>
        </p:txBody>
      </p:sp>
      <p:sp>
        <p:nvSpPr>
          <p:cNvPr id="24" name="Shape 24"/>
          <p:cNvSpPr/>
          <p:nvPr/>
        </p:nvSpPr>
        <p:spPr>
          <a:xfrm>
            <a:off x="571500" y="4889500"/>
            <a:ext cx="63500" cy="711200"/>
          </a:xfrm>
          <a:prstGeom prst="rect">
            <a:avLst/>
          </a:prstGeom>
          <a:solidFill>
            <a:srgbClr val="32B496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5"/>
          <p:cNvSpPr txBox="1"/>
          <p:nvPr/>
        </p:nvSpPr>
        <p:spPr>
          <a:xfrm>
            <a:off x="825500" y="4889500"/>
            <a:ext cx="105410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1500" b="1" dirty="0">
                <a:solidFill>
                  <a:srgbClr val="FFFFFF"/>
                </a:solidFill>
                <a:latin typeface="Calibri"/>
                <a:cs typeface="Calibri"/>
              </a:rPr>
              <a:t>Answer: none of the numerical ones.</a:t>
            </a:r>
            <a:r>
              <a:rPr lang="en-GB" sz="1500" dirty="0">
                <a:solidFill>
                  <a:srgbClr val="FFFFFF"/>
                </a:solidFill>
                <a:latin typeface="Calibri"/>
                <a:cs typeface="Calibri"/>
              </a:rPr>
              <a:t> The real uncertainty is the </a:t>
            </a:r>
            <a:r>
              <a:rPr lang="en-GB" sz="1500" b="1" dirty="0">
                <a:solidFill>
                  <a:srgbClr val="FFFFFF"/>
                </a:solidFill>
                <a:latin typeface="Calibri"/>
                <a:cs typeface="Calibri"/>
              </a:rPr>
              <a:t>volatility we put in</a:t>
            </a:r>
            <a:r>
              <a:rPr lang="en-GB" sz="1500" dirty="0">
                <a:solidFill>
                  <a:srgbClr val="FFFFFF"/>
                </a:solidFill>
                <a:latin typeface="Calibri"/>
                <a:cs typeface="Calibri"/>
              </a:rPr>
              <a:t>: model error ≈ Vega × (σ</a:t>
            </a:r>
            <a:r>
              <a:rPr lang="en-GB" sz="1500" baseline="-25000" dirty="0">
                <a:solidFill>
                  <a:srgbClr val="FFFFFF"/>
                </a:solidFill>
                <a:latin typeface="Calibri"/>
                <a:cs typeface="Calibri"/>
              </a:rPr>
              <a:t>true</a:t>
            </a:r>
            <a:r>
              <a:rPr lang="en-GB" sz="1500" dirty="0">
                <a:solidFill>
                  <a:srgbClr val="FFFFFF"/>
                </a:solidFill>
                <a:latin typeface="Calibri"/>
                <a:cs typeface="Calibri"/>
              </a:rPr>
              <a:t> − σ</a:t>
            </a:r>
            <a:r>
              <a:rPr lang="en-GB" sz="1500" baseline="-25000" dirty="0">
                <a:solidFill>
                  <a:srgbClr val="FFFFFF"/>
                </a:solidFill>
                <a:latin typeface="Calibri"/>
                <a:cs typeface="Calibri"/>
              </a:rPr>
              <a:t>used</a:t>
            </a:r>
            <a:r>
              <a:rPr lang="en-GB" sz="1500" dirty="0">
                <a:solidFill>
                  <a:srgbClr val="FFFFFF"/>
                </a:solidFill>
                <a:latin typeface="Calibri"/>
                <a:cs typeface="Calibri"/>
              </a:rPr>
              <a:t>).</a:t>
            </a:r>
            <a:endParaRPr lang="en-GB" sz="1500" dirty="0"/>
          </a:p>
        </p:txBody>
      </p:sp>
      <p:sp>
        <p:nvSpPr>
          <p:cNvPr id="26" name="Text 26"/>
          <p:cNvSpPr txBox="1"/>
          <p:nvPr/>
        </p:nvSpPr>
        <p:spPr>
          <a:xfrm>
            <a:off x="571500" y="643890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900" dirty="0">
                <a:solidFill>
                  <a:srgbClr val="D9C3CD"/>
                </a:solidFill>
                <a:latin typeface="Calibri"/>
                <a:cs typeface="Calibri"/>
              </a:rPr>
              <a:t>EDHEC Business School  |  FIN 6999 Financial Derivatives  |  Mid-term project</a:t>
            </a:r>
            <a:endParaRPr lang="en-GB" sz="900" dirty="0"/>
          </a:p>
        </p:txBody>
      </p:sp>
      <p:sp>
        <p:nvSpPr>
          <p:cNvPr id="21" name="Text 21"/>
          <p:cNvSpPr txBox="1"/>
          <p:nvPr/>
        </p:nvSpPr>
        <p:spPr>
          <a:xfrm>
            <a:off x="571500" y="508000"/>
            <a:ext cx="110617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2800" b="1" dirty="0">
                <a:solidFill>
                  <a:srgbClr val="FFFFFF"/>
                </a:solidFill>
                <a:latin typeface="Calibri"/>
                <a:cs typeface="Calibri"/>
              </a:rPr>
              <a:t>Pricing</a:t>
            </a:r>
            <a:r>
              <a:rPr lang="en-GB" sz="2000" dirty="0">
                <a:solidFill>
                  <a:srgbClr val="D9C3CD"/>
                </a:solidFill>
                <a:latin typeface="Calibri"/>
                <a:cs typeface="Calibri"/>
              </a:rPr>
              <a:t>   uncertainty</a:t>
            </a:r>
            <a:endParaRPr lang="en-GB" sz="28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452A039-1B0F-D371-49F0-E3197610D190}"/>
              </a:ext>
            </a:extLst>
          </p:cNvPr>
          <p:cNvSpPr/>
          <p:nvPr/>
        </p:nvSpPr>
        <p:spPr>
          <a:xfrm>
            <a:off x="5710630" y="4686300"/>
            <a:ext cx="3859480" cy="131816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D</a:t>
            </a:r>
            <a:r>
              <a:rPr lang="en-DE"/>
              <a:t>ie slide komplett ändern</a:t>
            </a:r>
          </a:p>
        </p:txBody>
      </p:sp>
    </p:spTree>
    <p:extLst>
      <p:ext uri="{BB962C8B-B14F-4D97-AF65-F5344CB8AC3E}">
        <p14:creationId xmlns:p14="http://schemas.microsoft.com/office/powerpoint/2010/main" val="17098809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38912"/>
            <a:ext cx="420624" cy="420624"/>
          </a:xfrm>
          <a:prstGeom prst="rect">
            <a:avLst/>
          </a:prstGeom>
          <a:solidFill>
            <a:srgbClr val="32B496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Text 1"/>
          <p:cNvSpPr txBox="1"/>
          <p:nvPr/>
        </p:nvSpPr>
        <p:spPr>
          <a:xfrm>
            <a:off x="566928" y="4389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GB" sz="1600" b="1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4" name="Text 2"/>
          <p:cNvSpPr txBox="1"/>
          <p:nvPr/>
        </p:nvSpPr>
        <p:spPr>
          <a:xfrm>
            <a:off x="1188720" y="384048"/>
            <a:ext cx="1043604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2800" b="1" dirty="0">
                <a:solidFill>
                  <a:srgbClr val="5F1937"/>
                </a:solidFill>
                <a:latin typeface="Calibri"/>
                <a:cs typeface="Calibri"/>
              </a:rPr>
              <a:t>Replication</a:t>
            </a:r>
            <a:r>
              <a:rPr lang="en-GB" sz="2000" dirty="0">
                <a:solidFill>
                  <a:srgbClr val="6B6B6B"/>
                </a:solidFill>
                <a:latin typeface="Calibri"/>
                <a:cs typeface="Calibri"/>
              </a:rPr>
              <a:t>   set-up and results</a:t>
            </a:r>
          </a:p>
        </p:txBody>
      </p:sp>
      <p:sp>
        <p:nvSpPr>
          <p:cNvPr id="14" name="Text 12"/>
          <p:cNvSpPr txBox="1"/>
          <p:nvPr/>
        </p:nvSpPr>
        <p:spPr>
          <a:xfrm>
            <a:off x="566928" y="643737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EDHEC Business School  |  FIN 6999 Financial Derivatives  |  Mid-term project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1076127" y="6437376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GB" sz="1000" b="1" dirty="0">
                <a:solidFill>
                  <a:srgbClr val="5F1937"/>
                </a:solidFill>
                <a:latin typeface="Calibri"/>
                <a:cs typeface="Calibri"/>
              </a:rPr>
              <a:t>7</a:t>
            </a:r>
          </a:p>
        </p:txBody>
      </p:sp>
      <p:pic>
        <p:nvPicPr>
          <p:cNvPr id="16" name="Histogram of the hedging error, daily rebalancing" descr="Histogram of the hedging error, daily rebalancing">
            <a:extLst>
              <a:ext uri="{FF2B5EF4-FFF2-40B4-BE49-F238E27FC236}">
                <a16:creationId xmlns:a16="http://schemas.microsoft.com/office/drawing/2014/main" id="{DA5C074B-12C8-6F26-25BC-966B674CF9B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2800" r="33300" b="48600"/>
          <a:stretch>
            <a:fillRect/>
          </a:stretch>
        </p:blipFill>
        <p:spPr>
          <a:xfrm>
            <a:off x="571500" y="2260600"/>
            <a:ext cx="3581400" cy="2895600"/>
          </a:xfrm>
          <a:prstGeom prst="rect">
            <a:avLst/>
          </a:prstGeom>
        </p:spPr>
      </p:pic>
      <p:pic>
        <p:nvPicPr>
          <p:cNvPr id="17" name="Std of hedging error vs number of rebalancing dates (log-log)" descr="Std of hedging error vs number of rebalancing dates (log-log)">
            <a:extLst>
              <a:ext uri="{FF2B5EF4-FFF2-40B4-BE49-F238E27FC236}">
                <a16:creationId xmlns:a16="http://schemas.microsoft.com/office/drawing/2014/main" id="{0F8AD120-49CE-FABA-4528-C9E2B5AD2B4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400" t="51200" r="33300"/>
          <a:stretch>
            <a:fillRect/>
          </a:stretch>
        </p:blipFill>
        <p:spPr>
          <a:xfrm>
            <a:off x="4381500" y="2286000"/>
            <a:ext cx="3556000" cy="2819400"/>
          </a:xfrm>
          <a:prstGeom prst="rect">
            <a:avLst/>
          </a:prstGeom>
        </p:spPr>
      </p:pic>
      <p:sp>
        <p:nvSpPr>
          <p:cNvPr id="20" name="Text 20"/>
          <p:cNvSpPr txBox="1"/>
          <p:nvPr/>
        </p:nvSpPr>
        <p:spPr>
          <a:xfrm>
            <a:off x="571500" y="1168400"/>
            <a:ext cx="110617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203200" indent="-203200">
              <a:lnSpc>
                <a:spcPct val="100000"/>
              </a:lnSpc>
              <a:spcBef>
                <a:spcPts val="0"/>
              </a:spcBef>
              <a:buClr>
                <a:srgbClr val="32B496"/>
              </a:buClr>
              <a:buSzPct val="75000"/>
              <a:buFont typeface="Arial"/>
              <a:buChar char="►"/>
            </a:pPr>
            <a:r>
              <a:rPr lang="en-GB" sz="1500" dirty="0">
                <a:solidFill>
                  <a:srgbClr val="2B2B2B"/>
                </a:solidFill>
                <a:latin typeface="Calibri"/>
                <a:cs typeface="Calibri"/>
              </a:rPr>
              <a:t>Sell the call for C</a:t>
            </a:r>
            <a:r>
              <a:rPr lang="en-GB" sz="1500" baseline="-25000" dirty="0">
                <a:solidFill>
                  <a:srgbClr val="2B2B2B"/>
                </a:solidFill>
                <a:latin typeface="Calibri"/>
                <a:cs typeface="Calibri"/>
              </a:rPr>
              <a:t>0</a:t>
            </a:r>
            <a:r>
              <a:rPr lang="en-GB" sz="1500" dirty="0">
                <a:solidFill>
                  <a:srgbClr val="2B2B2B"/>
                </a:solidFill>
                <a:latin typeface="Calibri"/>
                <a:cs typeface="Calibri"/>
              </a:rPr>
              <a:t> = 9.894, buy Δ = N(h</a:t>
            </a:r>
            <a:r>
              <a:rPr lang="en-GB" sz="1500" baseline="-25000" dirty="0">
                <a:solidFill>
                  <a:srgbClr val="2B2B2B"/>
                </a:solidFill>
                <a:latin typeface="Calibri"/>
                <a:cs typeface="Calibri"/>
              </a:rPr>
              <a:t>1</a:t>
            </a:r>
            <a:r>
              <a:rPr lang="en-GB" sz="1500" dirty="0">
                <a:solidFill>
                  <a:srgbClr val="2B2B2B"/>
                </a:solidFill>
                <a:latin typeface="Calibri"/>
                <a:cs typeface="Calibri"/>
              </a:rPr>
              <a:t>) shares, put the rest in the bank. Rebalance on fixed dates, self-financing. Paths use the </a:t>
            </a:r>
            <a:r>
              <a:rPr lang="en-GB" sz="1500" b="1" dirty="0">
                <a:solidFill>
                  <a:srgbClr val="2B2B2B"/>
                </a:solidFill>
                <a:latin typeface="Calibri"/>
                <a:cs typeface="Calibri"/>
              </a:rPr>
              <a:t>real-world drift μ</a:t>
            </a:r>
            <a:r>
              <a:rPr lang="en-GB" sz="1500" dirty="0">
                <a:solidFill>
                  <a:srgbClr val="2B2B2B"/>
                </a:solidFill>
                <a:latin typeface="Calibri"/>
                <a:cs typeface="Calibri"/>
              </a:rPr>
              <a:t>.</a:t>
            </a:r>
            <a:endParaRPr lang="en-GB" sz="1500" dirty="0"/>
          </a:p>
          <a:p>
            <a:pPr marL="203200" indent="-203200">
              <a:lnSpc>
                <a:spcPct val="100000"/>
              </a:lnSpc>
              <a:spcBef>
                <a:spcPts val="600"/>
              </a:spcBef>
              <a:buClr>
                <a:srgbClr val="32B496"/>
              </a:buClr>
              <a:buSzPct val="75000"/>
              <a:buFont typeface="Arial"/>
              <a:buChar char="►"/>
            </a:pPr>
            <a:r>
              <a:rPr lang="en-GB" sz="1500" dirty="0">
                <a:solidFill>
                  <a:srgbClr val="2B2B2B"/>
                </a:solidFill>
                <a:latin typeface="Calibri"/>
                <a:cs typeface="Calibri"/>
              </a:rPr>
              <a:t>On each of 10,000 paths record the hedging error  ε = Π</a:t>
            </a:r>
            <a:r>
              <a:rPr lang="en-GB" sz="1500" baseline="-25000" dirty="0">
                <a:solidFill>
                  <a:srgbClr val="2B2B2B"/>
                </a:solidFill>
                <a:latin typeface="Calibri"/>
                <a:cs typeface="Calibri"/>
              </a:rPr>
              <a:t>T</a:t>
            </a:r>
            <a:r>
              <a:rPr lang="en-GB" sz="1500" dirty="0">
                <a:solidFill>
                  <a:srgbClr val="2B2B2B"/>
                </a:solidFill>
                <a:latin typeface="Calibri"/>
                <a:cs typeface="Calibri"/>
              </a:rPr>
              <a:t> − max(S</a:t>
            </a:r>
            <a:r>
              <a:rPr lang="en-GB" sz="1500" baseline="-25000" dirty="0">
                <a:solidFill>
                  <a:srgbClr val="2B2B2B"/>
                </a:solidFill>
                <a:latin typeface="Calibri"/>
                <a:cs typeface="Calibri"/>
              </a:rPr>
              <a:t>T</a:t>
            </a:r>
            <a:r>
              <a:rPr lang="en-GB" sz="1500" dirty="0">
                <a:solidFill>
                  <a:srgbClr val="2B2B2B"/>
                </a:solidFill>
                <a:latin typeface="Calibri"/>
                <a:cs typeface="Calibri"/>
              </a:rPr>
              <a:t> − K, 0).</a:t>
            </a:r>
            <a:endParaRPr lang="en-GB" sz="1500" dirty="0"/>
          </a:p>
        </p:txBody>
      </p:sp>
      <p:graphicFrame>
        <p:nvGraphicFramePr>
          <p:cNvPr id="30" name="Table 30"/>
          <p:cNvGraphicFramePr>
            <a:graphicFrameLocks noGrp="1"/>
          </p:cNvGraphicFramePr>
          <p:nvPr/>
        </p:nvGraphicFramePr>
        <p:xfrm>
          <a:off x="8255000" y="2311400"/>
          <a:ext cx="3378200" cy="2286000"/>
        </p:xfrm>
        <a:graphic>
          <a:graphicData uri="http://schemas.openxmlformats.org/drawingml/2006/table">
            <a:tbl>
              <a:tblPr firstRow="1"/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9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9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400" b="1" dirty="0">
                          <a:solidFill>
                            <a:srgbClr val="5F1937"/>
                          </a:solidFill>
                          <a:latin typeface="Calibri"/>
                          <a:cs typeface="Calibri"/>
                        </a:rPr>
                        <a:t>Dates N</a:t>
                      </a:r>
                    </a:p>
                  </a:txBody>
                  <a:tcPr marL="76200" marR="762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5875">
                      <a:solidFill>
                        <a:srgbClr val="5F193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400" b="1" dirty="0">
                          <a:solidFill>
                            <a:srgbClr val="5F1937"/>
                          </a:solidFill>
                          <a:latin typeface="Calibri"/>
                          <a:cs typeface="Calibri"/>
                        </a:rPr>
                        <a:t>Std ε</a:t>
                      </a:r>
                    </a:p>
                  </a:txBody>
                  <a:tcPr marL="76200" marR="762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5875">
                      <a:solidFill>
                        <a:srgbClr val="5F193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400" b="1" dirty="0">
                          <a:solidFill>
                            <a:srgbClr val="5F1937"/>
                          </a:solidFill>
                          <a:latin typeface="Calibri"/>
                          <a:cs typeface="Calibri"/>
                        </a:rPr>
                        <a:t>Mean ε</a:t>
                      </a:r>
                    </a:p>
                  </a:txBody>
                  <a:tcPr marL="76200" marR="762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5875">
                      <a:solidFill>
                        <a:srgbClr val="5F1937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400" b="1" dirty="0">
                          <a:solidFill>
                            <a:srgbClr val="2B2B2B"/>
                          </a:solidFill>
                          <a:latin typeface="Calibri"/>
                          <a:cs typeface="Calibri"/>
                        </a:rPr>
                        <a:t>4</a:t>
                      </a:r>
                    </a:p>
                  </a:txBody>
                  <a:tcPr marL="76200" marR="76200" marT="25400" marB="25400" anchor="ctr">
                    <a:lnL w="0">
                      <a:noFill/>
                    </a:lnL>
                    <a:lnR w="0">
                      <a:noFill/>
                    </a:lnR>
                    <a:lnT w="15875" cap="flat" cmpd="sng" algn="ctr">
                      <a:solidFill>
                        <a:srgbClr val="5F1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400" dirty="0">
                          <a:solidFill>
                            <a:srgbClr val="2B2B2B"/>
                          </a:solidFill>
                          <a:latin typeface="Calibri"/>
                          <a:cs typeface="Calibri"/>
                        </a:rPr>
                        <a:t>3.22</a:t>
                      </a:r>
                    </a:p>
                  </a:txBody>
                  <a:tcPr marL="76200" marR="76200" marT="25400" marB="25400" anchor="ctr">
                    <a:lnL w="0">
                      <a:noFill/>
                    </a:lnL>
                    <a:lnR w="0">
                      <a:noFill/>
                    </a:lnR>
                    <a:lnT w="15875" cap="flat" cmpd="sng" algn="ctr">
                      <a:solidFill>
                        <a:srgbClr val="5F1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400" dirty="0">
                          <a:solidFill>
                            <a:srgbClr val="2B2B2B"/>
                          </a:solidFill>
                          <a:latin typeface="Calibri"/>
                          <a:cs typeface="Calibri"/>
                        </a:rPr>
                        <a:t>0.06</a:t>
                      </a:r>
                    </a:p>
                  </a:txBody>
                  <a:tcPr marL="76200" marR="76200" marT="25400" marB="25400" anchor="ctr">
                    <a:lnL w="0">
                      <a:noFill/>
                    </a:lnL>
                    <a:lnR w="0">
                      <a:noFill/>
                    </a:lnR>
                    <a:lnT w="15875" cap="flat" cmpd="sng" algn="ctr">
                      <a:solidFill>
                        <a:srgbClr val="5F1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400" b="1" dirty="0">
                          <a:solidFill>
                            <a:srgbClr val="2B2B2B"/>
                          </a:solidFill>
                          <a:latin typeface="Calibri"/>
                          <a:cs typeface="Calibri"/>
                        </a:rPr>
                        <a:t>12</a:t>
                      </a:r>
                    </a:p>
                  </a:txBody>
                  <a:tcPr marL="76200" marR="76200" marT="25400" marB="254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400" dirty="0">
                          <a:solidFill>
                            <a:srgbClr val="2B2B2B"/>
                          </a:solidFill>
                          <a:latin typeface="Calibri"/>
                          <a:cs typeface="Calibri"/>
                        </a:rPr>
                        <a:t>1.94</a:t>
                      </a:r>
                    </a:p>
                  </a:txBody>
                  <a:tcPr marL="76200" marR="76200" marT="25400" marB="254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400" dirty="0">
                          <a:solidFill>
                            <a:srgbClr val="2B2B2B"/>
                          </a:solidFill>
                          <a:latin typeface="Calibri"/>
                          <a:cs typeface="Calibri"/>
                        </a:rPr>
                        <a:t>0.01</a:t>
                      </a:r>
                    </a:p>
                  </a:txBody>
                  <a:tcPr marL="76200" marR="76200" marT="25400" marB="254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400" b="1" dirty="0">
                          <a:solidFill>
                            <a:srgbClr val="2B2B2B"/>
                          </a:solidFill>
                          <a:latin typeface="Calibri"/>
                          <a:cs typeface="Calibri"/>
                        </a:rPr>
                        <a:t>52</a:t>
                      </a:r>
                    </a:p>
                  </a:txBody>
                  <a:tcPr marL="76200" marR="76200" marT="25400" marB="254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400" dirty="0">
                          <a:solidFill>
                            <a:srgbClr val="2B2B2B"/>
                          </a:solidFill>
                          <a:latin typeface="Calibri"/>
                          <a:cs typeface="Calibri"/>
                        </a:rPr>
                        <a:t>0.95</a:t>
                      </a:r>
                    </a:p>
                  </a:txBody>
                  <a:tcPr marL="76200" marR="76200" marT="25400" marB="254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400" dirty="0">
                          <a:solidFill>
                            <a:srgbClr val="2B2B2B"/>
                          </a:solidFill>
                          <a:latin typeface="Calibri"/>
                          <a:cs typeface="Calibri"/>
                        </a:rPr>
                        <a:t>0.01</a:t>
                      </a:r>
                    </a:p>
                  </a:txBody>
                  <a:tcPr marL="76200" marR="76200" marT="25400" marB="254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400" b="1" dirty="0">
                          <a:solidFill>
                            <a:srgbClr val="2B2B2B"/>
                          </a:solidFill>
                          <a:latin typeface="Calibri"/>
                          <a:cs typeface="Calibri"/>
                        </a:rPr>
                        <a:t>252</a:t>
                      </a:r>
                    </a:p>
                  </a:txBody>
                  <a:tcPr marL="76200" marR="76200" marT="25400" marB="254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3F4E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400" dirty="0">
                          <a:solidFill>
                            <a:srgbClr val="2B2B2B"/>
                          </a:solidFill>
                          <a:latin typeface="Calibri"/>
                          <a:cs typeface="Calibri"/>
                        </a:rPr>
                        <a:t>0.44</a:t>
                      </a:r>
                    </a:p>
                  </a:txBody>
                  <a:tcPr marL="76200" marR="76200" marT="25400" marB="254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3F4E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400" dirty="0">
                          <a:solidFill>
                            <a:srgbClr val="2B2B2B"/>
                          </a:solidFill>
                          <a:latin typeface="Calibri"/>
                          <a:cs typeface="Calibri"/>
                        </a:rPr>
                        <a:t>0.01</a:t>
                      </a:r>
                    </a:p>
                  </a:txBody>
                  <a:tcPr marL="76200" marR="76200" marT="25400" marB="254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3F4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400" b="1" dirty="0">
                          <a:solidFill>
                            <a:srgbClr val="2B2B2B"/>
                          </a:solidFill>
                          <a:latin typeface="Calibri"/>
                          <a:cs typeface="Calibri"/>
                        </a:rPr>
                        <a:t>1,000</a:t>
                      </a:r>
                    </a:p>
                  </a:txBody>
                  <a:tcPr marL="76200" marR="76200" marT="25400" marB="254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400" dirty="0">
                          <a:solidFill>
                            <a:srgbClr val="2B2B2B"/>
                          </a:solidFill>
                          <a:latin typeface="Calibri"/>
                          <a:cs typeface="Calibri"/>
                        </a:rPr>
                        <a:t>0.22</a:t>
                      </a:r>
                    </a:p>
                  </a:txBody>
                  <a:tcPr marL="76200" marR="76200" marT="25400" marB="254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400" dirty="0">
                          <a:solidFill>
                            <a:srgbClr val="2B2B2B"/>
                          </a:solidFill>
                          <a:latin typeface="Calibri"/>
                          <a:cs typeface="Calibri"/>
                        </a:rPr>
                        <a:t>0.00</a:t>
                      </a:r>
                    </a:p>
                  </a:txBody>
                  <a:tcPr marL="76200" marR="76200" marT="25400" marB="254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1" name="Text 31"/>
          <p:cNvSpPr txBox="1"/>
          <p:nvPr/>
        </p:nvSpPr>
        <p:spPr>
          <a:xfrm>
            <a:off x="8255000" y="4673600"/>
            <a:ext cx="33782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1200" dirty="0">
                <a:solidFill>
                  <a:srgbClr val="6B6B6B"/>
                </a:solidFill>
                <a:latin typeface="Calibri"/>
                <a:cs typeface="Calibri"/>
              </a:rPr>
              <a:t>252 = daily: std 0.44, about 4.4% of the premium</a:t>
            </a:r>
            <a:endParaRPr lang="en-GB" sz="1200" dirty="0"/>
          </a:p>
        </p:txBody>
      </p:sp>
      <p:sp>
        <p:nvSpPr>
          <p:cNvPr id="40" name="Shape 40"/>
          <p:cNvSpPr/>
          <p:nvPr/>
        </p:nvSpPr>
        <p:spPr>
          <a:xfrm>
            <a:off x="571500" y="5537200"/>
            <a:ext cx="11061700" cy="635000"/>
          </a:xfrm>
          <a:prstGeom prst="rect">
            <a:avLst/>
          </a:prstGeom>
          <a:solidFill>
            <a:srgbClr val="EDE5E8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41" name="Shape 41"/>
          <p:cNvSpPr/>
          <p:nvPr/>
        </p:nvSpPr>
        <p:spPr>
          <a:xfrm>
            <a:off x="571500" y="5537200"/>
            <a:ext cx="63500" cy="635000"/>
          </a:xfrm>
          <a:prstGeom prst="rect">
            <a:avLst/>
          </a:prstGeom>
          <a:solidFill>
            <a:srgbClr val="32B496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42" name="Text 42"/>
          <p:cNvSpPr txBox="1"/>
          <p:nvPr/>
        </p:nvSpPr>
        <p:spPr>
          <a:xfrm>
            <a:off x="825500" y="5537200"/>
            <a:ext cx="105410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1500" dirty="0">
                <a:solidFill>
                  <a:srgbClr val="2B2B2B"/>
                </a:solidFill>
                <a:latin typeface="Calibri"/>
                <a:cs typeface="Calibri"/>
              </a:rPr>
              <a:t>On average the hedge works. Path by path it misses, and </a:t>
            </a:r>
            <a:r>
              <a:rPr lang="en-GB" sz="1500" b="1" dirty="0">
                <a:solidFill>
                  <a:srgbClr val="2B2B2B"/>
                </a:solidFill>
                <a:latin typeface="Calibri"/>
                <a:cs typeface="Calibri"/>
              </a:rPr>
              <a:t>4× more trading only halves the miss</a:t>
            </a:r>
            <a:r>
              <a:rPr lang="en-GB" sz="1500" dirty="0">
                <a:solidFill>
                  <a:srgbClr val="2B2B2B"/>
                </a:solidFill>
                <a:latin typeface="Calibri"/>
                <a:cs typeface="Calibri"/>
              </a:rPr>
              <a:t>. Why?</a:t>
            </a:r>
            <a:endParaRPr lang="en-GB" sz="15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54AB216-9A2A-BA5D-A134-118EF62BEAF3}"/>
              </a:ext>
            </a:extLst>
          </p:cNvPr>
          <p:cNvSpPr/>
          <p:nvPr/>
        </p:nvSpPr>
        <p:spPr>
          <a:xfrm>
            <a:off x="5710630" y="4686300"/>
            <a:ext cx="3859480" cy="131816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/>
              <a:t>Reine Daten und 1 beispiel replication anzeigen</a:t>
            </a:r>
          </a:p>
        </p:txBody>
      </p:sp>
    </p:spTree>
    <p:extLst>
      <p:ext uri="{BB962C8B-B14F-4D97-AF65-F5344CB8AC3E}">
        <p14:creationId xmlns:p14="http://schemas.microsoft.com/office/powerpoint/2010/main" val="28110738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38912"/>
            <a:ext cx="420624" cy="420624"/>
          </a:xfrm>
          <a:prstGeom prst="rect">
            <a:avLst/>
          </a:prstGeom>
          <a:solidFill>
            <a:srgbClr val="32B496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Text 1"/>
          <p:cNvSpPr txBox="1"/>
          <p:nvPr/>
        </p:nvSpPr>
        <p:spPr>
          <a:xfrm>
            <a:off x="566928" y="4389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GB" sz="1600" b="1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4" name="Text 2"/>
          <p:cNvSpPr txBox="1"/>
          <p:nvPr/>
        </p:nvSpPr>
        <p:spPr>
          <a:xfrm>
            <a:off x="1188720" y="384048"/>
            <a:ext cx="1043604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2800" b="1" dirty="0">
                <a:solidFill>
                  <a:srgbClr val="5F1937"/>
                </a:solidFill>
                <a:latin typeface="Calibri"/>
                <a:cs typeface="Calibri"/>
              </a:rPr>
              <a:t>Replication</a:t>
            </a:r>
            <a:r>
              <a:rPr lang="en-GB" sz="2000" dirty="0">
                <a:solidFill>
                  <a:srgbClr val="6B6B6B"/>
                </a:solidFill>
                <a:latin typeface="Calibri"/>
                <a:cs typeface="Calibri"/>
              </a:rPr>
              <a:t>   the hedging error</a:t>
            </a:r>
          </a:p>
        </p:txBody>
      </p:sp>
      <p:sp>
        <p:nvSpPr>
          <p:cNvPr id="14" name="Text 12"/>
          <p:cNvSpPr txBox="1"/>
          <p:nvPr/>
        </p:nvSpPr>
        <p:spPr>
          <a:xfrm>
            <a:off x="566928" y="643737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EDHEC Business School  |  FIN 6999 Financial Derivatives  |  Mid-term project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1076127" y="6437376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GB" sz="1000" b="1" dirty="0">
                <a:solidFill>
                  <a:srgbClr val="5F1937"/>
                </a:solidFill>
                <a:latin typeface="Calibri"/>
                <a:cs typeface="Calibri"/>
              </a:rPr>
              <a:t>8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571500" y="1206500"/>
            <a:ext cx="6731000" cy="406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1600" b="1" dirty="0">
                <a:solidFill>
                  <a:srgbClr val="5F1937"/>
                </a:solidFill>
                <a:latin typeface="Calibri"/>
                <a:cs typeface="Calibri"/>
              </a:rPr>
              <a:t>Proof:  P&amp;L of the hedged position over one step dt</a:t>
            </a:r>
            <a:endParaRPr lang="en-GB" sz="1600" dirty="0"/>
          </a:p>
          <a:p>
            <a:pPr marL="254000" indent="-254000">
              <a:lnSpc>
                <a:spcPct val="100000"/>
              </a:lnSpc>
              <a:spcBef>
                <a:spcPts val="1000"/>
              </a:spcBef>
              <a:buClr>
                <a:srgbClr val="5F1937"/>
              </a:buClr>
              <a:buFont typeface="Calibri"/>
              <a:buAutoNum type="arabicPeriod"/>
            </a:pPr>
            <a:r>
              <a:rPr lang="en-GB" sz="1600" dirty="0">
                <a:solidFill>
                  <a:srgbClr val="2B2B2B"/>
                </a:solidFill>
                <a:latin typeface="Calibri"/>
                <a:cs typeface="Calibri"/>
              </a:rPr>
              <a:t>Taylor / Ito:  dC = Θdt + ΔdS + ½ΓdS</a:t>
            </a:r>
            <a:r>
              <a:rPr lang="en-GB" sz="1600" baseline="30000" dirty="0">
                <a:solidFill>
                  <a:srgbClr val="2B2B2B"/>
                </a:solidFill>
                <a:latin typeface="Calibri"/>
                <a:cs typeface="Calibri"/>
              </a:rPr>
              <a:t>2</a:t>
            </a:r>
            <a:endParaRPr lang="en-GB" sz="1600" dirty="0"/>
          </a:p>
          <a:p>
            <a:pPr marL="254000" indent="-254000">
              <a:lnSpc>
                <a:spcPct val="100000"/>
              </a:lnSpc>
              <a:spcBef>
                <a:spcPts val="800"/>
              </a:spcBef>
              <a:buClr>
                <a:srgbClr val="5F1937"/>
              </a:buClr>
              <a:buFont typeface="Calibri"/>
              <a:buAutoNum type="arabicPeriod"/>
            </a:pPr>
            <a:r>
              <a:rPr lang="en-GB" sz="1600" dirty="0">
                <a:solidFill>
                  <a:srgbClr val="2B2B2B"/>
                </a:solidFill>
                <a:latin typeface="Calibri"/>
                <a:cs typeface="Calibri"/>
              </a:rPr>
              <a:t>The replicating portfolio earns  ΔdS + r(C − ΔS)dt</a:t>
            </a:r>
            <a:endParaRPr lang="en-GB" sz="1600" dirty="0"/>
          </a:p>
          <a:p>
            <a:pPr marL="254000" indent="-254000">
              <a:lnSpc>
                <a:spcPct val="100000"/>
              </a:lnSpc>
              <a:spcBef>
                <a:spcPts val="800"/>
              </a:spcBef>
              <a:buClr>
                <a:srgbClr val="5F1937"/>
              </a:buClr>
              <a:buFont typeface="Calibri"/>
              <a:buAutoNum type="arabicPeriod"/>
            </a:pPr>
            <a:r>
              <a:rPr lang="en-GB" sz="1600" dirty="0">
                <a:solidFill>
                  <a:srgbClr val="2B2B2B"/>
                </a:solidFill>
                <a:latin typeface="Calibri"/>
                <a:cs typeface="Calibri"/>
              </a:rPr>
              <a:t>The PDE (1) gives  −Θ + r(C − ΔS) = ½σ</a:t>
            </a:r>
            <a:r>
              <a:rPr lang="en-GB" sz="1600" baseline="30000" dirty="0">
                <a:solidFill>
                  <a:srgbClr val="2B2B2B"/>
                </a:solidFill>
                <a:latin typeface="Calibri"/>
                <a:cs typeface="Calibri"/>
              </a:rPr>
              <a:t>2</a:t>
            </a:r>
            <a:r>
              <a:rPr lang="en-GB" sz="1600" dirty="0">
                <a:solidFill>
                  <a:srgbClr val="2B2B2B"/>
                </a:solidFill>
                <a:latin typeface="Calibri"/>
                <a:cs typeface="Calibri"/>
              </a:rPr>
              <a:t>S</a:t>
            </a:r>
            <a:r>
              <a:rPr lang="en-GB" sz="1600" baseline="30000" dirty="0">
                <a:solidFill>
                  <a:srgbClr val="2B2B2B"/>
                </a:solidFill>
                <a:latin typeface="Calibri"/>
                <a:cs typeface="Calibri"/>
              </a:rPr>
              <a:t>2</a:t>
            </a:r>
            <a:r>
              <a:rPr lang="en-GB" sz="1600" dirty="0">
                <a:solidFill>
                  <a:srgbClr val="2B2B2B"/>
                </a:solidFill>
                <a:latin typeface="Calibri"/>
                <a:cs typeface="Calibri"/>
              </a:rPr>
              <a:t>Γ</a:t>
            </a:r>
            <a:endParaRPr lang="en-GB" sz="1600" dirty="0"/>
          </a:p>
          <a:p>
            <a:pPr marL="254000" indent="-254000">
              <a:lnSpc>
                <a:spcPct val="100000"/>
              </a:lnSpc>
              <a:spcBef>
                <a:spcPts val="800"/>
              </a:spcBef>
              <a:buClr>
                <a:srgbClr val="5F1937"/>
              </a:buClr>
              <a:buFont typeface="Calibri"/>
              <a:buAutoNum type="arabicPeriod"/>
            </a:pPr>
            <a:r>
              <a:rPr lang="en-GB" sz="1600" dirty="0">
                <a:solidFill>
                  <a:srgbClr val="2B2B2B"/>
                </a:solidFill>
                <a:latin typeface="Calibri"/>
                <a:cs typeface="Calibri"/>
              </a:rPr>
              <a:t>Therefore</a:t>
            </a:r>
            <a:endParaRPr lang="en-GB" sz="1600" dirty="0"/>
          </a:p>
          <a:p>
            <a:pPr marL="508000" indent="0">
              <a:lnSpc>
                <a:spcPct val="100000"/>
              </a:lnSpc>
              <a:spcBef>
                <a:spcPts val="1000"/>
              </a:spcBef>
              <a:buNone/>
              <a:tabLst>
                <a:tab pos="6197600" algn="r"/>
              </a:tabLst>
            </a:pPr>
            <a:r>
              <a:rPr lang="en-GB" sz="1800" b="1" dirty="0">
                <a:solidFill>
                  <a:srgbClr val="5F1937"/>
                </a:solidFill>
                <a:latin typeface="Cambria Math"/>
                <a:cs typeface="Cambria Math"/>
              </a:rPr>
              <a:t>dε = ½ΓS</a:t>
            </a:r>
            <a:r>
              <a:rPr lang="en-GB" sz="1800" b="1" baseline="30000" dirty="0">
                <a:solidFill>
                  <a:srgbClr val="5F1937"/>
                </a:solidFill>
                <a:latin typeface="Cambria Math"/>
                <a:cs typeface="Cambria Math"/>
              </a:rPr>
              <a:t>2</a:t>
            </a:r>
            <a:r>
              <a:rPr lang="en-GB" sz="1800" b="1" dirty="0">
                <a:solidFill>
                  <a:srgbClr val="5F1937"/>
                </a:solidFill>
                <a:latin typeface="Cambria Math"/>
                <a:cs typeface="Cambria Math"/>
              </a:rPr>
              <a:t> [ σ</a:t>
            </a:r>
            <a:r>
              <a:rPr lang="en-GB" sz="1800" b="1" baseline="30000" dirty="0">
                <a:solidFill>
                  <a:srgbClr val="5F1937"/>
                </a:solidFill>
                <a:latin typeface="Cambria Math"/>
                <a:cs typeface="Cambria Math"/>
              </a:rPr>
              <a:t>2</a:t>
            </a:r>
            <a:r>
              <a:rPr lang="en-GB" sz="1800" b="1" dirty="0">
                <a:solidFill>
                  <a:srgbClr val="5F1937"/>
                </a:solidFill>
                <a:latin typeface="Cambria Math"/>
                <a:cs typeface="Cambria Math"/>
              </a:rPr>
              <a:t>dt − (dS/S)</a:t>
            </a:r>
            <a:r>
              <a:rPr lang="en-GB" sz="1800" b="1" baseline="30000" dirty="0">
                <a:solidFill>
                  <a:srgbClr val="5F1937"/>
                </a:solidFill>
                <a:latin typeface="Cambria Math"/>
                <a:cs typeface="Cambria Math"/>
              </a:rPr>
              <a:t>2</a:t>
            </a:r>
            <a:r>
              <a:rPr lang="en-GB" sz="1800" b="1" dirty="0">
                <a:solidFill>
                  <a:srgbClr val="5F1937"/>
                </a:solidFill>
                <a:latin typeface="Cambria Math"/>
                <a:cs typeface="Cambria Math"/>
              </a:rPr>
              <a:t> ]</a:t>
            </a:r>
            <a:r>
              <a:rPr lang="en-GB" sz="1800" b="1" dirty="0">
                <a:solidFill>
                  <a:srgbClr val="6B6B6B"/>
                </a:solidFill>
                <a:latin typeface="Calibri"/>
                <a:cs typeface="Calibri"/>
              </a:rPr>
              <a:t>	(3)</a:t>
            </a:r>
            <a:endParaRPr lang="en-GB" sz="1800" dirty="0"/>
          </a:p>
          <a:p>
            <a:pPr marL="0" indent="0" algn="ctr">
              <a:lnSpc>
                <a:spcPct val="100000"/>
              </a:lnSpc>
              <a:spcBef>
                <a:spcPts val="600"/>
              </a:spcBef>
              <a:buNone/>
            </a:pPr>
            <a:r>
              <a:rPr lang="en-GB" sz="1400" i="1" dirty="0">
                <a:solidFill>
                  <a:srgbClr val="6B6B6B"/>
                </a:solidFill>
                <a:latin typeface="Calibri"/>
                <a:cs typeface="Calibri"/>
              </a:rPr>
              <a:t>“variance we were paid for” minus “variance that was delivered”</a:t>
            </a:r>
            <a:endParaRPr lang="en-GB" sz="1400" dirty="0"/>
          </a:p>
        </p:txBody>
      </p:sp>
      <p:sp>
        <p:nvSpPr>
          <p:cNvPr id="30" name="Shape 30"/>
          <p:cNvSpPr/>
          <p:nvPr/>
        </p:nvSpPr>
        <p:spPr>
          <a:xfrm>
            <a:off x="7620000" y="1206500"/>
            <a:ext cx="4013200" cy="2413000"/>
          </a:xfrm>
          <a:prstGeom prst="rect">
            <a:avLst/>
          </a:prstGeom>
          <a:solidFill>
            <a:srgbClr val="EDE5E8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31"/>
          <p:cNvSpPr txBox="1"/>
          <p:nvPr/>
        </p:nvSpPr>
        <p:spPr>
          <a:xfrm>
            <a:off x="7848600" y="1397000"/>
            <a:ext cx="3581400" cy="215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1600" b="1" dirty="0">
                <a:solidFill>
                  <a:srgbClr val="5F1937"/>
                </a:solidFill>
                <a:latin typeface="Calibri"/>
                <a:cs typeface="Calibri"/>
              </a:rPr>
              <a:t>What (3) tells us</a:t>
            </a:r>
            <a:endParaRPr lang="en-GB" sz="1600" dirty="0"/>
          </a:p>
          <a:p>
            <a:pPr marL="203200" indent="-203200">
              <a:lnSpc>
                <a:spcPct val="100000"/>
              </a:lnSpc>
              <a:spcBef>
                <a:spcPts val="1200"/>
              </a:spcBef>
              <a:buClr>
                <a:srgbClr val="32B496"/>
              </a:buClr>
              <a:buSzPct val="75000"/>
              <a:buFont typeface="Arial"/>
              <a:buChar char="►"/>
            </a:pPr>
            <a:r>
              <a:rPr lang="en-GB" sz="1500" dirty="0">
                <a:solidFill>
                  <a:srgbClr val="2B2B2B"/>
                </a:solidFill>
                <a:latin typeface="Calibri"/>
                <a:cs typeface="Calibri"/>
              </a:rPr>
              <a:t>E[(dS/S)</a:t>
            </a:r>
            <a:r>
              <a:rPr lang="en-GB" sz="1500" baseline="30000" dirty="0">
                <a:solidFill>
                  <a:srgbClr val="2B2B2B"/>
                </a:solidFill>
                <a:latin typeface="Calibri"/>
                <a:cs typeface="Calibri"/>
              </a:rPr>
              <a:t>2</a:t>
            </a:r>
            <a:r>
              <a:rPr lang="en-GB" sz="1500" dirty="0">
                <a:solidFill>
                  <a:srgbClr val="2B2B2B"/>
                </a:solidFill>
                <a:latin typeface="Calibri"/>
                <a:cs typeface="Calibri"/>
              </a:rPr>
              <a:t>] = σ</a:t>
            </a:r>
            <a:r>
              <a:rPr lang="en-GB" sz="1500" baseline="30000" dirty="0">
                <a:solidFill>
                  <a:srgbClr val="2B2B2B"/>
                </a:solidFill>
                <a:latin typeface="Calibri"/>
                <a:cs typeface="Calibri"/>
              </a:rPr>
              <a:t>2</a:t>
            </a:r>
            <a:r>
              <a:rPr lang="en-GB" sz="1500" dirty="0">
                <a:solidFill>
                  <a:srgbClr val="2B2B2B"/>
                </a:solidFill>
                <a:latin typeface="Calibri"/>
                <a:cs typeface="Calibri"/>
              </a:rPr>
              <a:t>dt, so the </a:t>
            </a:r>
            <a:r>
              <a:rPr lang="en-GB" sz="1500" b="1" dirty="0">
                <a:solidFill>
                  <a:srgbClr val="2B2B2B"/>
                </a:solidFill>
                <a:latin typeface="Calibri"/>
                <a:cs typeface="Calibri"/>
              </a:rPr>
              <a:t>mean error is 0</a:t>
            </a:r>
            <a:r>
              <a:rPr lang="en-GB" sz="1500" dirty="0">
                <a:solidFill>
                  <a:srgbClr val="2B2B2B"/>
                </a:solidFill>
                <a:latin typeface="Calibri"/>
                <a:cs typeface="Calibri"/>
              </a:rPr>
              <a:t>.</a:t>
            </a:r>
            <a:endParaRPr lang="en-GB" sz="1500" dirty="0"/>
          </a:p>
          <a:p>
            <a:pPr marL="203200" indent="-203200">
              <a:lnSpc>
                <a:spcPct val="100000"/>
              </a:lnSpc>
              <a:spcBef>
                <a:spcPts val="1200"/>
              </a:spcBef>
              <a:buClr>
                <a:srgbClr val="32B496"/>
              </a:buClr>
              <a:buSzPct val="75000"/>
              <a:buFont typeface="Arial"/>
              <a:buChar char="►"/>
            </a:pPr>
            <a:r>
              <a:rPr lang="en-GB" sz="1500" dirty="0">
                <a:solidFill>
                  <a:srgbClr val="2B2B2B"/>
                </a:solidFill>
                <a:latin typeface="Calibri"/>
                <a:cs typeface="Calibri"/>
              </a:rPr>
              <a:t>Each step adds noise of order dt; summed over N steps, </a:t>
            </a:r>
            <a:r>
              <a:rPr lang="en-GB" sz="1500" b="1" dirty="0">
                <a:solidFill>
                  <a:srgbClr val="2B2B2B"/>
                </a:solidFill>
                <a:latin typeface="Calibri"/>
                <a:cs typeface="Calibri"/>
              </a:rPr>
              <a:t>std ∝ 1/√N</a:t>
            </a:r>
            <a:r>
              <a:rPr lang="en-GB" sz="1500" dirty="0">
                <a:solidFill>
                  <a:srgbClr val="2B2B2B"/>
                </a:solidFill>
                <a:latin typeface="Calibri"/>
                <a:cs typeface="Calibri"/>
              </a:rPr>
              <a:t>.</a:t>
            </a:r>
            <a:endParaRPr lang="en-GB" sz="1500" dirty="0"/>
          </a:p>
          <a:p>
            <a:pPr marL="203200" indent="-203200">
              <a:lnSpc>
                <a:spcPct val="100000"/>
              </a:lnSpc>
              <a:spcBef>
                <a:spcPts val="1200"/>
              </a:spcBef>
              <a:buClr>
                <a:srgbClr val="32B496"/>
              </a:buClr>
              <a:buSzPct val="75000"/>
              <a:buFont typeface="Arial"/>
              <a:buChar char="►"/>
            </a:pPr>
            <a:r>
              <a:rPr lang="en-GB" sz="1500" b="1" dirty="0">
                <a:solidFill>
                  <a:srgbClr val="2B2B2B"/>
                </a:solidFill>
                <a:latin typeface="Calibri"/>
                <a:cs typeface="Calibri"/>
              </a:rPr>
              <a:t>μ does not appear in (3)</a:t>
            </a:r>
            <a:r>
              <a:rPr lang="en-GB" sz="1500" dirty="0">
                <a:solidFill>
                  <a:srgbClr val="2B2B2B"/>
                </a:solidFill>
                <a:latin typeface="Calibri"/>
                <a:cs typeface="Calibri"/>
              </a:rPr>
              <a:t>: the result does not depend on the drift.</a:t>
            </a:r>
            <a:endParaRPr lang="en-GB" sz="1500" dirty="0"/>
          </a:p>
        </p:txBody>
      </p:sp>
      <p:sp>
        <p:nvSpPr>
          <p:cNvPr id="40" name="Shape 40"/>
          <p:cNvSpPr/>
          <p:nvPr/>
        </p:nvSpPr>
        <p:spPr>
          <a:xfrm>
            <a:off x="571500" y="5537200"/>
            <a:ext cx="11061700" cy="635000"/>
          </a:xfrm>
          <a:prstGeom prst="rect">
            <a:avLst/>
          </a:prstGeom>
          <a:solidFill>
            <a:srgbClr val="EDE5E8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41" name="Shape 41"/>
          <p:cNvSpPr/>
          <p:nvPr/>
        </p:nvSpPr>
        <p:spPr>
          <a:xfrm>
            <a:off x="571500" y="5537200"/>
            <a:ext cx="63500" cy="635000"/>
          </a:xfrm>
          <a:prstGeom prst="rect">
            <a:avLst/>
          </a:prstGeom>
          <a:solidFill>
            <a:srgbClr val="32B496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42" name="Text 42"/>
          <p:cNvSpPr txBox="1"/>
          <p:nvPr/>
        </p:nvSpPr>
        <p:spPr>
          <a:xfrm>
            <a:off x="825500" y="5537200"/>
            <a:ext cx="105410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1500" dirty="0">
                <a:solidFill>
                  <a:srgbClr val="2B2B2B"/>
                </a:solidFill>
                <a:latin typeface="Calibri"/>
                <a:cs typeface="Calibri"/>
              </a:rPr>
              <a:t>After delta hedging, what is left is </a:t>
            </a:r>
            <a:r>
              <a:rPr lang="en-GB" sz="1500" b="1" dirty="0">
                <a:solidFill>
                  <a:srgbClr val="2B2B2B"/>
                </a:solidFill>
                <a:latin typeface="Calibri"/>
                <a:cs typeface="Calibri"/>
              </a:rPr>
              <a:t>a bet on volatility</a:t>
            </a:r>
            <a:r>
              <a:rPr lang="en-GB" sz="1500" dirty="0">
                <a:solidFill>
                  <a:srgbClr val="2B2B2B"/>
                </a:solidFill>
                <a:latin typeface="Calibri"/>
                <a:cs typeface="Calibri"/>
              </a:rPr>
              <a:t>: gamma times implied minus realised variance.</a:t>
            </a:r>
            <a:endParaRPr lang="en-GB" sz="1500" dirty="0"/>
          </a:p>
        </p:txBody>
      </p:sp>
      <p:cxnSp>
        <p:nvCxnSpPr>
          <p:cNvPr id="32" name="Line 32"/>
          <p:cNvCxnSpPr/>
          <p:nvPr/>
        </p:nvCxnSpPr>
        <p:spPr>
          <a:xfrm>
            <a:off x="571500" y="4038600"/>
            <a:ext cx="11061700" cy="0"/>
          </a:xfrm>
          <a:prstGeom prst="line">
            <a:avLst/>
          </a:prstGeom>
          <a:ln w="19050">
            <a:solidFill>
              <a:srgbClr val="32B496"/>
            </a:solidFill>
          </a:ln>
        </p:spPr>
      </p:cxnSp>
      <p:sp>
        <p:nvSpPr>
          <p:cNvPr id="33" name="Text 33"/>
          <p:cNvSpPr txBox="1"/>
          <p:nvPr/>
        </p:nvSpPr>
        <p:spPr>
          <a:xfrm>
            <a:off x="571500" y="4216400"/>
            <a:ext cx="110617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1400" b="1" dirty="0">
                <a:solidFill>
                  <a:srgbClr val="5F1937"/>
                </a:solidFill>
                <a:latin typeface="Calibri"/>
                <a:cs typeface="Calibri"/>
              </a:rPr>
              <a:t>Check against Derman-Kamal (1999):  std(ε) ≈ √(π/4) σ Vega / √N = 6.77/√N</a:t>
            </a:r>
            <a:endParaRPr lang="en-GB" sz="1400" dirty="0"/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GB" sz="1400" dirty="0">
                <a:solidFill>
                  <a:srgbClr val="2B2B2B"/>
                </a:solidFill>
                <a:latin typeface="Calibri"/>
                <a:cs typeface="Calibri"/>
              </a:rPr>
              <a:t>gives 3.38 / 1.95 / 0.94 / 0.43 / 0.21 for N = 4 / 12 / 52 / 252 / 1,000, against our simulated 3.22 / 1.94 / 0.95 / 0.44 / 0.22.</a:t>
            </a:r>
            <a:endParaRPr lang="en-GB" sz="14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D39E600-1D71-6415-4C26-709F18E3C72F}"/>
              </a:ext>
            </a:extLst>
          </p:cNvPr>
          <p:cNvSpPr/>
          <p:nvPr/>
        </p:nvSpPr>
        <p:spPr>
          <a:xfrm>
            <a:off x="5710630" y="4686300"/>
            <a:ext cx="3859480" cy="131816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Bessere formeln und generell nochmal rüber</a:t>
            </a:r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7965652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38912"/>
            <a:ext cx="420624" cy="420624"/>
          </a:xfrm>
          <a:prstGeom prst="rect">
            <a:avLst/>
          </a:prstGeom>
          <a:solidFill>
            <a:srgbClr val="32B496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Text 1"/>
          <p:cNvSpPr txBox="1"/>
          <p:nvPr/>
        </p:nvSpPr>
        <p:spPr>
          <a:xfrm>
            <a:off x="566928" y="4389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GB" sz="1600" b="1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4" name="Text 2"/>
          <p:cNvSpPr txBox="1"/>
          <p:nvPr/>
        </p:nvSpPr>
        <p:spPr>
          <a:xfrm>
            <a:off x="1188720" y="384048"/>
            <a:ext cx="1043604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2800" b="1" dirty="0">
                <a:solidFill>
                  <a:srgbClr val="5F1937"/>
                </a:solidFill>
                <a:latin typeface="Calibri"/>
                <a:cs typeface="Calibri"/>
              </a:rPr>
              <a:t>Replication</a:t>
            </a:r>
            <a:r>
              <a:rPr lang="en-GB" sz="2000" dirty="0">
                <a:solidFill>
                  <a:srgbClr val="6B6B6B"/>
                </a:solidFill>
                <a:latin typeface="Calibri"/>
                <a:cs typeface="Calibri"/>
              </a:rPr>
              <a:t>   what the error depends on</a:t>
            </a:r>
          </a:p>
        </p:txBody>
      </p:sp>
      <p:sp>
        <p:nvSpPr>
          <p:cNvPr id="14" name="Text 12"/>
          <p:cNvSpPr txBox="1"/>
          <p:nvPr/>
        </p:nvSpPr>
        <p:spPr>
          <a:xfrm>
            <a:off x="566928" y="643737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EDHEC Business School  |  FIN 6999 Financial Derivatives  |  Mid-term project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1076127" y="6437376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GB" sz="1000" b="1" dirty="0">
                <a:solidFill>
                  <a:srgbClr val="5F1937"/>
                </a:solidFill>
                <a:latin typeface="Calibri"/>
                <a:cs typeface="Calibri"/>
              </a:rPr>
              <a:t>9</a:t>
            </a:r>
          </a:p>
        </p:txBody>
      </p:sp>
      <p:pic>
        <p:nvPicPr>
          <p:cNvPr id="16" name="Hedging error when the true volatility differs from the 20% hedging volatility" descr="Hedging error when the true volatility differs from the 20% hedging volatility">
            <a:extLst>
              <a:ext uri="{FF2B5EF4-FFF2-40B4-BE49-F238E27FC236}">
                <a16:creationId xmlns:a16="http://schemas.microsoft.com/office/drawing/2014/main" id="{7C29963A-81ED-4E8A-75E8-9E9064B51D6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6800" t="51200"/>
          <a:stretch>
            <a:fillRect/>
          </a:stretch>
        </p:blipFill>
        <p:spPr>
          <a:xfrm>
            <a:off x="7569200" y="1270000"/>
            <a:ext cx="4064000" cy="3251200"/>
          </a:xfrm>
          <a:prstGeom prst="rect">
            <a:avLst/>
          </a:prstGeom>
        </p:spPr>
      </p:pic>
      <p:sp>
        <p:nvSpPr>
          <p:cNvPr id="20" name="Text 20"/>
          <p:cNvSpPr txBox="1"/>
          <p:nvPr/>
        </p:nvSpPr>
        <p:spPr>
          <a:xfrm>
            <a:off x="571500" y="1168400"/>
            <a:ext cx="6731000" cy="1968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1400" dirty="0">
                <a:solidFill>
                  <a:srgbClr val="2B2B2B"/>
                </a:solidFill>
                <a:latin typeface="Calibri"/>
                <a:cs typeface="Calibri"/>
              </a:rPr>
              <a:t>Equation (3) tells us everything:</a:t>
            </a:r>
            <a:endParaRPr lang="en-GB" sz="1400" dirty="0"/>
          </a:p>
          <a:p>
            <a:pPr marL="203200" indent="-203200">
              <a:lnSpc>
                <a:spcPct val="100000"/>
              </a:lnSpc>
              <a:spcBef>
                <a:spcPts val="600"/>
              </a:spcBef>
              <a:buClr>
                <a:srgbClr val="32B496"/>
              </a:buClr>
              <a:buSzPct val="75000"/>
              <a:buFont typeface="Arial"/>
              <a:buChar char="►"/>
            </a:pPr>
            <a:r>
              <a:rPr lang="en-GB" sz="1400" b="1" dirty="0">
                <a:solidFill>
                  <a:srgbClr val="2B2B2B"/>
                </a:solidFill>
                <a:latin typeface="Calibri"/>
                <a:cs typeface="Calibri"/>
              </a:rPr>
              <a:t>Rebalancing frequency:</a:t>
            </a:r>
            <a:r>
              <a:rPr lang="en-GB" sz="1400" dirty="0">
                <a:solidFill>
                  <a:srgbClr val="2B2B2B"/>
                </a:solidFill>
                <a:latin typeface="Calibri"/>
                <a:cs typeface="Calibri"/>
              </a:rPr>
              <a:t> std ∝ 1/√N. Quarterly hedging gives 3.2, about a third of the premium.</a:t>
            </a:r>
            <a:endParaRPr lang="en-GB" sz="1400" dirty="0"/>
          </a:p>
          <a:p>
            <a:pPr marL="203200" indent="-203200">
              <a:lnSpc>
                <a:spcPct val="100000"/>
              </a:lnSpc>
              <a:spcBef>
                <a:spcPts val="600"/>
              </a:spcBef>
              <a:buClr>
                <a:srgbClr val="32B496"/>
              </a:buClr>
              <a:buSzPct val="75000"/>
              <a:buFont typeface="Arial"/>
              <a:buChar char="►"/>
            </a:pPr>
            <a:r>
              <a:rPr lang="en-GB" sz="1400" b="1" dirty="0">
                <a:solidFill>
                  <a:srgbClr val="2B2B2B"/>
                </a:solidFill>
                <a:latin typeface="Calibri"/>
                <a:cs typeface="Calibri"/>
              </a:rPr>
              <a:t>Where the path goes:</a:t>
            </a:r>
            <a:r>
              <a:rPr lang="en-GB" sz="1400" dirty="0">
                <a:solidFill>
                  <a:srgbClr val="2B2B2B"/>
                </a:solidFill>
                <a:latin typeface="Calibri"/>
                <a:cs typeface="Calibri"/>
              </a:rPr>
              <a:t> ΓS</a:t>
            </a:r>
            <a:r>
              <a:rPr lang="en-GB" sz="1400" baseline="30000" dirty="0">
                <a:solidFill>
                  <a:srgbClr val="2B2B2B"/>
                </a:solidFill>
                <a:latin typeface="Calibri"/>
                <a:cs typeface="Calibri"/>
              </a:rPr>
              <a:t>2</a:t>
            </a:r>
            <a:r>
              <a:rPr lang="en-GB" sz="1400" dirty="0">
                <a:solidFill>
                  <a:srgbClr val="2B2B2B"/>
                </a:solidFill>
                <a:latin typeface="Calibri"/>
                <a:cs typeface="Calibri"/>
              </a:rPr>
              <a:t> is largest near K close to expiry, so paths ending near the strike have the biggest errors.</a:t>
            </a:r>
            <a:endParaRPr lang="en-GB" sz="1400" dirty="0"/>
          </a:p>
          <a:p>
            <a:pPr marL="203200" indent="-203200">
              <a:lnSpc>
                <a:spcPct val="100000"/>
              </a:lnSpc>
              <a:spcBef>
                <a:spcPts val="600"/>
              </a:spcBef>
              <a:buClr>
                <a:srgbClr val="32B496"/>
              </a:buClr>
              <a:buSzPct val="75000"/>
              <a:buFont typeface="Arial"/>
              <a:buChar char="►"/>
            </a:pPr>
            <a:r>
              <a:rPr lang="en-GB" sz="1400" b="1" dirty="0">
                <a:solidFill>
                  <a:srgbClr val="2B2B2B"/>
                </a:solidFill>
                <a:latin typeface="Calibri"/>
                <a:cs typeface="Calibri"/>
              </a:rPr>
              <a:t>The volatility that was delivered</a:t>
            </a:r>
            <a:r>
              <a:rPr lang="en-GB" sz="1400" dirty="0">
                <a:solidFill>
                  <a:srgbClr val="2B2B2B"/>
                </a:solidFill>
                <a:latin typeface="Calibri"/>
                <a:cs typeface="Calibri"/>
              </a:rPr>
              <a:t> (we hedge with σ = 20%):</a:t>
            </a:r>
            <a:endParaRPr lang="en-GB" sz="1400" dirty="0"/>
          </a:p>
        </p:txBody>
      </p:sp>
      <p:graphicFrame>
        <p:nvGraphicFramePr>
          <p:cNvPr id="30" name="Table 30"/>
          <p:cNvGraphicFramePr>
            <a:graphicFrameLocks noGrp="1"/>
          </p:cNvGraphicFramePr>
          <p:nvPr/>
        </p:nvGraphicFramePr>
        <p:xfrm>
          <a:off x="774700" y="3175000"/>
          <a:ext cx="6654800" cy="1028700"/>
        </p:xfrm>
        <a:graphic>
          <a:graphicData uri="http://schemas.openxmlformats.org/drawingml/2006/table">
            <a:tbl>
              <a:tblPr firstRow="1"/>
              <a:tblGrid>
                <a:gridCol w="144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1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1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41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41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41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400" b="1" dirty="0">
                          <a:solidFill>
                            <a:srgbClr val="5F1937"/>
                          </a:solidFill>
                          <a:latin typeface="Calibri"/>
                          <a:cs typeface="Calibri"/>
                        </a:rPr>
                        <a:t>True vol</a:t>
                      </a:r>
                    </a:p>
                  </a:txBody>
                  <a:tcPr marL="76200" marR="762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5875">
                      <a:solidFill>
                        <a:srgbClr val="5F193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400" b="1" dirty="0">
                          <a:solidFill>
                            <a:srgbClr val="5F1937"/>
                          </a:solidFill>
                          <a:latin typeface="Calibri"/>
                          <a:cs typeface="Calibri"/>
                        </a:rPr>
                        <a:t>10%</a:t>
                      </a:r>
                    </a:p>
                  </a:txBody>
                  <a:tcPr marL="76200" marR="762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5875">
                      <a:solidFill>
                        <a:srgbClr val="5F193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400" b="1" dirty="0">
                          <a:solidFill>
                            <a:srgbClr val="5F1937"/>
                          </a:solidFill>
                          <a:latin typeface="Calibri"/>
                          <a:cs typeface="Calibri"/>
                        </a:rPr>
                        <a:t>15%</a:t>
                      </a:r>
                    </a:p>
                  </a:txBody>
                  <a:tcPr marL="76200" marR="762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5875">
                      <a:solidFill>
                        <a:srgbClr val="5F193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400" b="1" dirty="0">
                          <a:solidFill>
                            <a:srgbClr val="5F1937"/>
                          </a:solidFill>
                          <a:latin typeface="Calibri"/>
                          <a:cs typeface="Calibri"/>
                        </a:rPr>
                        <a:t>20%</a:t>
                      </a:r>
                    </a:p>
                  </a:txBody>
                  <a:tcPr marL="76200" marR="762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5875">
                      <a:solidFill>
                        <a:srgbClr val="5F193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400" b="1" dirty="0">
                          <a:solidFill>
                            <a:srgbClr val="5F1937"/>
                          </a:solidFill>
                          <a:latin typeface="Calibri"/>
                          <a:cs typeface="Calibri"/>
                        </a:rPr>
                        <a:t>25%</a:t>
                      </a:r>
                    </a:p>
                  </a:txBody>
                  <a:tcPr marL="76200" marR="762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5875">
                      <a:solidFill>
                        <a:srgbClr val="5F193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400" b="1" dirty="0">
                          <a:solidFill>
                            <a:srgbClr val="5F1937"/>
                          </a:solidFill>
                          <a:latin typeface="Calibri"/>
                          <a:cs typeface="Calibri"/>
                        </a:rPr>
                        <a:t>30%</a:t>
                      </a:r>
                    </a:p>
                  </a:txBody>
                  <a:tcPr marL="76200" marR="762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5875">
                      <a:solidFill>
                        <a:srgbClr val="5F1937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400" b="1" dirty="0">
                          <a:solidFill>
                            <a:srgbClr val="2B2B2B"/>
                          </a:solidFill>
                          <a:latin typeface="Calibri"/>
                          <a:cs typeface="Calibri"/>
                        </a:rPr>
                        <a:t>Mean ε</a:t>
                      </a:r>
                    </a:p>
                  </a:txBody>
                  <a:tcPr marL="76200" marR="76200" marT="25400" marB="25400" anchor="ctr">
                    <a:lnL w="0">
                      <a:noFill/>
                    </a:lnL>
                    <a:lnR w="0">
                      <a:noFill/>
                    </a:lnR>
                    <a:lnT w="15875" cap="flat" cmpd="sng" algn="ctr">
                      <a:solidFill>
                        <a:srgbClr val="5F1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400" dirty="0">
                          <a:solidFill>
                            <a:srgbClr val="2B2B2B"/>
                          </a:solidFill>
                          <a:latin typeface="Calibri"/>
                          <a:cs typeface="Calibri"/>
                        </a:rPr>
                        <a:t>+3.90</a:t>
                      </a:r>
                    </a:p>
                  </a:txBody>
                  <a:tcPr marL="76200" marR="76200" marT="25400" marB="25400" anchor="ctr">
                    <a:lnL w="0">
                      <a:noFill/>
                    </a:lnL>
                    <a:lnR w="0">
                      <a:noFill/>
                    </a:lnR>
                    <a:lnT w="15875" cap="flat" cmpd="sng" algn="ctr">
                      <a:solidFill>
                        <a:srgbClr val="5F1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400" dirty="0">
                          <a:solidFill>
                            <a:srgbClr val="2B2B2B"/>
                          </a:solidFill>
                          <a:latin typeface="Calibri"/>
                          <a:cs typeface="Calibri"/>
                        </a:rPr>
                        <a:t>+1.97</a:t>
                      </a:r>
                    </a:p>
                  </a:txBody>
                  <a:tcPr marL="76200" marR="76200" marT="25400" marB="25400" anchor="ctr">
                    <a:lnL w="0">
                      <a:noFill/>
                    </a:lnL>
                    <a:lnR w="0">
                      <a:noFill/>
                    </a:lnR>
                    <a:lnT w="15875" cap="flat" cmpd="sng" algn="ctr">
                      <a:solidFill>
                        <a:srgbClr val="5F1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400" dirty="0">
                          <a:solidFill>
                            <a:srgbClr val="2B2B2B"/>
                          </a:solidFill>
                          <a:latin typeface="Calibri"/>
                          <a:cs typeface="Calibri"/>
                        </a:rPr>
                        <a:t>0.01</a:t>
                      </a:r>
                    </a:p>
                  </a:txBody>
                  <a:tcPr marL="76200" marR="76200" marT="25400" marB="25400" anchor="ctr">
                    <a:lnL w="0">
                      <a:noFill/>
                    </a:lnL>
                    <a:lnR w="0">
                      <a:noFill/>
                    </a:lnR>
                    <a:lnT w="15875" cap="flat" cmpd="sng" algn="ctr">
                      <a:solidFill>
                        <a:srgbClr val="5F1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400" dirty="0">
                          <a:solidFill>
                            <a:srgbClr val="2B2B2B"/>
                          </a:solidFill>
                          <a:latin typeface="Calibri"/>
                          <a:cs typeface="Calibri"/>
                        </a:rPr>
                        <a:t>−1.98</a:t>
                      </a:r>
                    </a:p>
                  </a:txBody>
                  <a:tcPr marL="76200" marR="76200" marT="25400" marB="25400" anchor="ctr">
                    <a:lnL w="0">
                      <a:noFill/>
                    </a:lnL>
                    <a:lnR w="0">
                      <a:noFill/>
                    </a:lnR>
                    <a:lnT w="15875" cap="flat" cmpd="sng" algn="ctr">
                      <a:solidFill>
                        <a:srgbClr val="5F1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400" dirty="0">
                          <a:solidFill>
                            <a:srgbClr val="2B2B2B"/>
                          </a:solidFill>
                          <a:latin typeface="Calibri"/>
                          <a:cs typeface="Calibri"/>
                        </a:rPr>
                        <a:t>−3.97</a:t>
                      </a:r>
                    </a:p>
                  </a:txBody>
                  <a:tcPr marL="76200" marR="76200" marT="25400" marB="25400" anchor="ctr">
                    <a:lnL w="0">
                      <a:noFill/>
                    </a:lnL>
                    <a:lnR w="0">
                      <a:noFill/>
                    </a:lnR>
                    <a:lnT w="15875" cap="flat" cmpd="sng" algn="ctr">
                      <a:solidFill>
                        <a:srgbClr val="5F1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400" b="1" dirty="0">
                          <a:solidFill>
                            <a:srgbClr val="2B2B2B"/>
                          </a:solidFill>
                          <a:latin typeface="Calibri"/>
                          <a:cs typeface="Calibri"/>
                        </a:rPr>
                        <a:t>Std ε</a:t>
                      </a:r>
                    </a:p>
                  </a:txBody>
                  <a:tcPr marL="76200" marR="76200" marT="25400" marB="254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400" dirty="0">
                          <a:solidFill>
                            <a:srgbClr val="2B2B2B"/>
                          </a:solidFill>
                          <a:latin typeface="Calibri"/>
                          <a:cs typeface="Calibri"/>
                        </a:rPr>
                        <a:t>1.05</a:t>
                      </a:r>
                    </a:p>
                  </a:txBody>
                  <a:tcPr marL="76200" marR="76200" marT="25400" marB="254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400" dirty="0">
                          <a:solidFill>
                            <a:srgbClr val="2B2B2B"/>
                          </a:solidFill>
                          <a:latin typeface="Calibri"/>
                          <a:cs typeface="Calibri"/>
                        </a:rPr>
                        <a:t>0.73</a:t>
                      </a:r>
                    </a:p>
                  </a:txBody>
                  <a:tcPr marL="76200" marR="76200" marT="25400" marB="254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400" dirty="0">
                          <a:solidFill>
                            <a:srgbClr val="2B2B2B"/>
                          </a:solidFill>
                          <a:latin typeface="Calibri"/>
                          <a:cs typeface="Calibri"/>
                        </a:rPr>
                        <a:t>0.44</a:t>
                      </a:r>
                    </a:p>
                  </a:txBody>
                  <a:tcPr marL="76200" marR="76200" marT="25400" marB="254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400" dirty="0">
                          <a:solidFill>
                            <a:srgbClr val="2B2B2B"/>
                          </a:solidFill>
                          <a:latin typeface="Calibri"/>
                          <a:cs typeface="Calibri"/>
                        </a:rPr>
                        <a:t>1.00</a:t>
                      </a:r>
                    </a:p>
                  </a:txBody>
                  <a:tcPr marL="76200" marR="76200" marT="25400" marB="254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400" dirty="0">
                          <a:solidFill>
                            <a:srgbClr val="2B2B2B"/>
                          </a:solidFill>
                          <a:latin typeface="Calibri"/>
                          <a:cs typeface="Calibri"/>
                        </a:rPr>
                        <a:t>1.92</a:t>
                      </a:r>
                    </a:p>
                  </a:txBody>
                  <a:tcPr marL="76200" marR="76200" marT="25400" marB="254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1" name="Text 21"/>
          <p:cNvSpPr txBox="1"/>
          <p:nvPr/>
        </p:nvSpPr>
        <p:spPr>
          <a:xfrm>
            <a:off x="571500" y="4292600"/>
            <a:ext cx="6731000" cy="101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1300" dirty="0">
                <a:solidFill>
                  <a:srgbClr val="6B6B6B"/>
                </a:solidFill>
                <a:latin typeface="Calibri"/>
                <a:cs typeface="Calibri"/>
              </a:rPr>
              <a:t>Check: Vega × 5 vol points = 38.17 × 0.05 = 1.91.</a:t>
            </a:r>
            <a:endParaRPr lang="en-GB" sz="1300" dirty="0"/>
          </a:p>
          <a:p>
            <a:pPr marL="203200" indent="-203200">
              <a:lnSpc>
                <a:spcPct val="100000"/>
              </a:lnSpc>
              <a:spcBef>
                <a:spcPts val="1000"/>
              </a:spcBef>
              <a:buClr>
                <a:srgbClr val="32B496"/>
              </a:buClr>
              <a:buSzPct val="75000"/>
              <a:buFont typeface="Arial"/>
              <a:buChar char="►"/>
            </a:pPr>
            <a:r>
              <a:rPr lang="en-GB" sz="1400" b="1" dirty="0">
                <a:solidFill>
                  <a:srgbClr val="2B2B2B"/>
                </a:solidFill>
                <a:latin typeface="Calibri"/>
                <a:cs typeface="Calibri"/>
              </a:rPr>
              <a:t>Not the drift:</a:t>
            </a:r>
            <a:r>
              <a:rPr lang="en-GB" sz="1400" dirty="0">
                <a:solidFill>
                  <a:srgbClr val="2B2B2B"/>
                </a:solidFill>
                <a:latin typeface="Calibri"/>
                <a:cs typeface="Calibri"/>
              </a:rPr>
              <a:t> mean ε ≈ 0 for μ = 0%, 5%, 10% and 20%.</a:t>
            </a:r>
            <a:endParaRPr lang="en-GB" sz="1400" dirty="0"/>
          </a:p>
        </p:txBody>
      </p:sp>
      <p:sp>
        <p:nvSpPr>
          <p:cNvPr id="22" name="Text 22"/>
          <p:cNvSpPr txBox="1"/>
          <p:nvPr/>
        </p:nvSpPr>
        <p:spPr>
          <a:xfrm>
            <a:off x="7569200" y="4597400"/>
            <a:ext cx="4064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1200" dirty="0">
                <a:solidFill>
                  <a:srgbClr val="6B6B6B"/>
                </a:solidFill>
                <a:latin typeface="Calibri"/>
                <a:cs typeface="Calibri"/>
              </a:rPr>
              <a:t>Hedging with σ = 20%: wrong vol shifts the whole distribution, it does not just widen it.</a:t>
            </a:r>
            <a:endParaRPr lang="en-GB" sz="1200" dirty="0"/>
          </a:p>
        </p:txBody>
      </p:sp>
      <p:sp>
        <p:nvSpPr>
          <p:cNvPr id="40" name="Shape 40"/>
          <p:cNvSpPr/>
          <p:nvPr/>
        </p:nvSpPr>
        <p:spPr>
          <a:xfrm>
            <a:off x="571500" y="5435600"/>
            <a:ext cx="11061700" cy="787400"/>
          </a:xfrm>
          <a:prstGeom prst="rect">
            <a:avLst/>
          </a:prstGeom>
          <a:solidFill>
            <a:srgbClr val="EDE5E8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41" name="Shape 41"/>
          <p:cNvSpPr/>
          <p:nvPr/>
        </p:nvSpPr>
        <p:spPr>
          <a:xfrm>
            <a:off x="571500" y="5435600"/>
            <a:ext cx="63500" cy="787400"/>
          </a:xfrm>
          <a:prstGeom prst="rect">
            <a:avLst/>
          </a:prstGeom>
          <a:solidFill>
            <a:srgbClr val="32B496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42" name="Text 42"/>
          <p:cNvSpPr txBox="1"/>
          <p:nvPr/>
        </p:nvSpPr>
        <p:spPr>
          <a:xfrm>
            <a:off x="825500" y="5435600"/>
            <a:ext cx="10541000" cy="787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1400" b="1" dirty="0">
                <a:solidFill>
                  <a:srgbClr val="2B2B2B"/>
                </a:solidFill>
                <a:latin typeface="Calibri"/>
                <a:cs typeface="Calibri"/>
              </a:rPr>
              <a:t>Works</a:t>
            </a:r>
            <a:r>
              <a:rPr lang="en-GB" sz="1400" dirty="0">
                <a:solidFill>
                  <a:srgbClr val="2B2B2B"/>
                </a:solidFill>
                <a:latin typeface="Calibri"/>
                <a:cs typeface="Calibri"/>
              </a:rPr>
              <a:t> with frequent trading, the right σ and no jumps. </a:t>
            </a:r>
            <a:r>
              <a:rPr lang="en-GB" sz="1400" b="1" dirty="0">
                <a:solidFill>
                  <a:srgbClr val="2B2B2B"/>
                </a:solidFill>
                <a:latin typeface="Calibri"/>
                <a:cs typeface="Calibri"/>
              </a:rPr>
              <a:t>Fails</a:t>
            </a:r>
            <a:r>
              <a:rPr lang="en-GB" sz="1400" dirty="0">
                <a:solidFill>
                  <a:srgbClr val="2B2B2B"/>
                </a:solidFill>
                <a:latin typeface="Calibri"/>
                <a:cs typeface="Calibri"/>
              </a:rPr>
              <a:t> with rare trading, the wrong σ, S near K close to expiry, transaction costs and jumps. Wrong volatility turns noise into a </a:t>
            </a:r>
            <a:r>
              <a:rPr lang="en-GB" sz="1400" b="1" dirty="0">
                <a:solidFill>
                  <a:srgbClr val="2B2B2B"/>
                </a:solidFill>
                <a:latin typeface="Calibri"/>
                <a:cs typeface="Calibri"/>
              </a:rPr>
              <a:t>systematic loss</a:t>
            </a:r>
            <a:r>
              <a:rPr lang="en-GB" sz="1400" dirty="0">
                <a:solidFill>
                  <a:srgbClr val="2B2B2B"/>
                </a:solidFill>
                <a:latin typeface="Calibri"/>
                <a:cs typeface="Calibri"/>
              </a:rPr>
              <a:t>.</a:t>
            </a:r>
            <a:endParaRPr lang="en-GB" sz="14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E5BE1EF-C4C9-CDBF-A2F9-84844712F0B9}"/>
              </a:ext>
            </a:extLst>
          </p:cNvPr>
          <p:cNvSpPr/>
          <p:nvPr/>
        </p:nvSpPr>
        <p:spPr>
          <a:xfrm>
            <a:off x="5710630" y="4686300"/>
            <a:ext cx="3859480" cy="131816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V</a:t>
            </a:r>
            <a:r>
              <a:rPr lang="en-DE"/>
              <a:t>erstehen und dann nochmal gucken </a:t>
            </a:r>
          </a:p>
        </p:txBody>
      </p:sp>
    </p:spTree>
    <p:extLst>
      <p:ext uri="{BB962C8B-B14F-4D97-AF65-F5344CB8AC3E}">
        <p14:creationId xmlns:p14="http://schemas.microsoft.com/office/powerpoint/2010/main" val="6140629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38912"/>
            <a:ext cx="420624" cy="420624"/>
          </a:xfrm>
          <a:prstGeom prst="rect">
            <a:avLst/>
          </a:prstGeom>
          <a:solidFill>
            <a:srgbClr val="32B496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Text 1"/>
          <p:cNvSpPr txBox="1"/>
          <p:nvPr/>
        </p:nvSpPr>
        <p:spPr>
          <a:xfrm>
            <a:off x="566928" y="4389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GB" sz="1600" b="1" dirty="0">
                <a:solidFill>
                  <a:srgbClr val="FFFFFF"/>
                </a:solidFill>
                <a:latin typeface="Calibri"/>
                <a:cs typeface="Calibri"/>
              </a:rPr>
              <a:t>4</a:t>
            </a:r>
          </a:p>
        </p:txBody>
      </p:sp>
      <p:sp>
        <p:nvSpPr>
          <p:cNvPr id="4" name="Text 2"/>
          <p:cNvSpPr txBox="1"/>
          <p:nvPr/>
        </p:nvSpPr>
        <p:spPr>
          <a:xfrm>
            <a:off x="1188720" y="384048"/>
            <a:ext cx="1043604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2800" b="1" dirty="0">
                <a:solidFill>
                  <a:srgbClr val="5F1937"/>
                </a:solidFill>
                <a:latin typeface="Calibri"/>
                <a:cs typeface="Calibri"/>
              </a:rPr>
              <a:t>Greeks</a:t>
            </a:r>
            <a:r>
              <a:rPr lang="en-GB" sz="2000" dirty="0">
                <a:solidFill>
                  <a:srgbClr val="6B6B6B"/>
                </a:solidFill>
                <a:latin typeface="Calibri"/>
                <a:cs typeface="Calibri"/>
              </a:rPr>
              <a:t>   results</a:t>
            </a:r>
          </a:p>
        </p:txBody>
      </p:sp>
      <p:sp>
        <p:nvSpPr>
          <p:cNvPr id="14" name="Text 12"/>
          <p:cNvSpPr txBox="1"/>
          <p:nvPr/>
        </p:nvSpPr>
        <p:spPr>
          <a:xfrm>
            <a:off x="566928" y="643737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EDHEC Business School  |  FIN 6999 Financial Derivatives  |  Mid-term project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1076127" y="6437376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GB" sz="1000" b="1" dirty="0">
                <a:solidFill>
                  <a:srgbClr val="5F1937"/>
                </a:solidFill>
                <a:latin typeface="Calibri"/>
                <a:cs typeface="Calibri"/>
              </a:rPr>
              <a:t>10</a:t>
            </a:r>
          </a:p>
        </p:txBody>
      </p:sp>
      <p:graphicFrame>
        <p:nvGraphicFramePr>
          <p:cNvPr id="20" name="Table 20"/>
          <p:cNvGraphicFramePr>
            <a:graphicFrameLocks noGrp="1"/>
          </p:cNvGraphicFramePr>
          <p:nvPr/>
        </p:nvGraphicFramePr>
        <p:xfrm>
          <a:off x="571500" y="1244600"/>
          <a:ext cx="6731000" cy="1727200"/>
        </p:xfrm>
        <a:graphic>
          <a:graphicData uri="http://schemas.openxmlformats.org/drawingml/2006/table">
            <a:tbl>
              <a:tblPr firstRow="1"/>
              <a:tblGrid>
                <a:gridCol w="1079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0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400" b="1" dirty="0">
                          <a:solidFill>
                            <a:srgbClr val="5F1937"/>
                          </a:solidFill>
                          <a:latin typeface="Calibri"/>
                          <a:cs typeface="Calibri"/>
                        </a:rPr>
                        <a:t>Greek</a:t>
                      </a:r>
                    </a:p>
                  </a:txBody>
                  <a:tcPr marL="76200" marR="762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5875">
                      <a:solidFill>
                        <a:srgbClr val="5F193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400" b="1" dirty="0">
                          <a:solidFill>
                            <a:srgbClr val="5F1937"/>
                          </a:solidFill>
                          <a:latin typeface="Calibri"/>
                          <a:cs typeface="Calibri"/>
                        </a:rPr>
                        <a:t>Black-Scholes</a:t>
                      </a:r>
                    </a:p>
                  </a:txBody>
                  <a:tcPr marL="76200" marR="762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5875">
                      <a:solidFill>
                        <a:srgbClr val="5F193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400" b="1" dirty="0">
                          <a:solidFill>
                            <a:srgbClr val="5F1937"/>
                          </a:solidFill>
                          <a:latin typeface="Calibri"/>
                          <a:cs typeface="Calibri"/>
                        </a:rPr>
                        <a:t>MC (10</a:t>
                      </a:r>
                      <a:r>
                        <a:rPr lang="en-GB" sz="1400" b="1" baseline="30000" dirty="0">
                          <a:solidFill>
                            <a:srgbClr val="5F1937"/>
                          </a:solidFill>
                          <a:latin typeface="Calibri"/>
                          <a:cs typeface="Calibri"/>
                        </a:rPr>
                        <a:t>6</a:t>
                      </a:r>
                      <a:r>
                        <a:rPr lang="en-GB" sz="1400" b="1" dirty="0">
                          <a:solidFill>
                            <a:srgbClr val="5F1937"/>
                          </a:solidFill>
                          <a:latin typeface="Calibri"/>
                          <a:cs typeface="Calibri"/>
                        </a:rPr>
                        <a:t>)</a:t>
                      </a:r>
                    </a:p>
                  </a:txBody>
                  <a:tcPr marL="76200" marR="762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5875">
                      <a:solidFill>
                        <a:srgbClr val="5F193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400" b="1" dirty="0">
                          <a:solidFill>
                            <a:srgbClr val="5F1937"/>
                          </a:solidFill>
                          <a:latin typeface="Calibri"/>
                          <a:cs typeface="Calibri"/>
                        </a:rPr>
                        <a:t>MC SE</a:t>
                      </a:r>
                    </a:p>
                  </a:txBody>
                  <a:tcPr marL="76200" marR="762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5875">
                      <a:solidFill>
                        <a:srgbClr val="5F193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400" b="1" dirty="0">
                          <a:solidFill>
                            <a:srgbClr val="5F1937"/>
                          </a:solidFill>
                          <a:latin typeface="Calibri"/>
                          <a:cs typeface="Calibri"/>
                        </a:rPr>
                        <a:t>Tree (N = 1,000)</a:t>
                      </a:r>
                    </a:p>
                  </a:txBody>
                  <a:tcPr marL="76200" marR="762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5875">
                      <a:solidFill>
                        <a:srgbClr val="5F1937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400" b="1" dirty="0">
                          <a:solidFill>
                            <a:srgbClr val="2B2B2B"/>
                          </a:solidFill>
                          <a:latin typeface="Calibri"/>
                          <a:cs typeface="Calibri"/>
                        </a:rPr>
                        <a:t>Delta</a:t>
                      </a:r>
                    </a:p>
                  </a:txBody>
                  <a:tcPr marL="76200" marR="76200" marT="25400" marB="25400" anchor="ctr">
                    <a:lnL w="0">
                      <a:noFill/>
                    </a:lnL>
                    <a:lnR w="0">
                      <a:noFill/>
                    </a:lnR>
                    <a:lnT w="15875" cap="flat" cmpd="sng" algn="ctr">
                      <a:solidFill>
                        <a:srgbClr val="5F1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400" dirty="0">
                          <a:solidFill>
                            <a:srgbClr val="2B2B2B"/>
                          </a:solidFill>
                          <a:latin typeface="Calibri"/>
                          <a:cs typeface="Calibri"/>
                        </a:rPr>
                        <a:t>0.6168</a:t>
                      </a:r>
                    </a:p>
                  </a:txBody>
                  <a:tcPr marL="76200" marR="76200" marT="25400" marB="25400" anchor="ctr">
                    <a:lnL w="0">
                      <a:noFill/>
                    </a:lnL>
                    <a:lnR w="0">
                      <a:noFill/>
                    </a:lnR>
                    <a:lnT w="15875" cap="flat" cmpd="sng" algn="ctr">
                      <a:solidFill>
                        <a:srgbClr val="5F1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400" dirty="0">
                          <a:solidFill>
                            <a:srgbClr val="2B2B2B"/>
                          </a:solidFill>
                          <a:latin typeface="Calibri"/>
                          <a:cs typeface="Calibri"/>
                        </a:rPr>
                        <a:t>0.6167</a:t>
                      </a:r>
                    </a:p>
                  </a:txBody>
                  <a:tcPr marL="76200" marR="76200" marT="25400" marB="25400" anchor="ctr">
                    <a:lnL w="0">
                      <a:noFill/>
                    </a:lnL>
                    <a:lnR w="0">
                      <a:noFill/>
                    </a:lnR>
                    <a:lnT w="15875" cap="flat" cmpd="sng" algn="ctr">
                      <a:solidFill>
                        <a:srgbClr val="5F1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400" dirty="0">
                          <a:solidFill>
                            <a:srgbClr val="2B2B2B"/>
                          </a:solidFill>
                          <a:latin typeface="Calibri"/>
                          <a:cs typeface="Calibri"/>
                        </a:rPr>
                        <a:t>0.0006</a:t>
                      </a:r>
                    </a:p>
                  </a:txBody>
                  <a:tcPr marL="76200" marR="76200" marT="25400" marB="25400" anchor="ctr">
                    <a:lnL w="0">
                      <a:noFill/>
                    </a:lnL>
                    <a:lnR w="0">
                      <a:noFill/>
                    </a:lnR>
                    <a:lnT w="15875" cap="flat" cmpd="sng" algn="ctr">
                      <a:solidFill>
                        <a:srgbClr val="5F1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400" dirty="0">
                          <a:solidFill>
                            <a:srgbClr val="2B2B2B"/>
                          </a:solidFill>
                          <a:latin typeface="Calibri"/>
                          <a:cs typeface="Calibri"/>
                        </a:rPr>
                        <a:t>0.6167</a:t>
                      </a:r>
                    </a:p>
                  </a:txBody>
                  <a:tcPr marL="76200" marR="76200" marT="25400" marB="25400" anchor="ctr">
                    <a:lnL w="0">
                      <a:noFill/>
                    </a:lnL>
                    <a:lnR w="0">
                      <a:noFill/>
                    </a:lnR>
                    <a:lnT w="15875" cap="flat" cmpd="sng" algn="ctr">
                      <a:solidFill>
                        <a:srgbClr val="5F1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400" b="1" dirty="0">
                          <a:solidFill>
                            <a:srgbClr val="2B2B2B"/>
                          </a:solidFill>
                          <a:latin typeface="Calibri"/>
                          <a:cs typeface="Calibri"/>
                        </a:rPr>
                        <a:t>Gamma</a:t>
                      </a:r>
                    </a:p>
                  </a:txBody>
                  <a:tcPr marL="76200" marR="76200" marT="25400" marB="254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400" dirty="0">
                          <a:solidFill>
                            <a:srgbClr val="2B2B2B"/>
                          </a:solidFill>
                          <a:latin typeface="Calibri"/>
                          <a:cs typeface="Calibri"/>
                        </a:rPr>
                        <a:t>0.01909</a:t>
                      </a:r>
                    </a:p>
                  </a:txBody>
                  <a:tcPr marL="76200" marR="76200" marT="25400" marB="254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400" dirty="0">
                          <a:solidFill>
                            <a:srgbClr val="2B2B2B"/>
                          </a:solidFill>
                          <a:latin typeface="Calibri"/>
                          <a:cs typeface="Calibri"/>
                        </a:rPr>
                        <a:t>0.01903</a:t>
                      </a:r>
                    </a:p>
                  </a:txBody>
                  <a:tcPr marL="76200" marR="76200" marT="25400" marB="254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400" dirty="0">
                          <a:solidFill>
                            <a:srgbClr val="2B2B2B"/>
                          </a:solidFill>
                          <a:latin typeface="Calibri"/>
                          <a:cs typeface="Calibri"/>
                        </a:rPr>
                        <a:t>0.00011</a:t>
                      </a:r>
                    </a:p>
                  </a:txBody>
                  <a:tcPr marL="76200" marR="76200" marT="25400" marB="254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400" dirty="0">
                          <a:solidFill>
                            <a:srgbClr val="2B2B2B"/>
                          </a:solidFill>
                          <a:latin typeface="Calibri"/>
                          <a:cs typeface="Calibri"/>
                        </a:rPr>
                        <a:t>0.01910</a:t>
                      </a:r>
                    </a:p>
                  </a:txBody>
                  <a:tcPr marL="76200" marR="76200" marT="25400" marB="254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400" b="1" dirty="0">
                          <a:solidFill>
                            <a:srgbClr val="2B2B2B"/>
                          </a:solidFill>
                          <a:latin typeface="Calibri"/>
                          <a:cs typeface="Calibri"/>
                        </a:rPr>
                        <a:t>Vega</a:t>
                      </a:r>
                    </a:p>
                  </a:txBody>
                  <a:tcPr marL="76200" marR="76200" marT="25400" marB="254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400" dirty="0">
                          <a:solidFill>
                            <a:srgbClr val="2B2B2B"/>
                          </a:solidFill>
                          <a:latin typeface="Calibri"/>
                          <a:cs typeface="Calibri"/>
                        </a:rPr>
                        <a:t>38.17</a:t>
                      </a:r>
                    </a:p>
                  </a:txBody>
                  <a:tcPr marL="76200" marR="76200" marT="25400" marB="254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400" dirty="0">
                          <a:solidFill>
                            <a:srgbClr val="2B2B2B"/>
                          </a:solidFill>
                          <a:latin typeface="Calibri"/>
                          <a:cs typeface="Calibri"/>
                        </a:rPr>
                        <a:t>38.19</a:t>
                      </a:r>
                    </a:p>
                  </a:txBody>
                  <a:tcPr marL="76200" marR="76200" marT="25400" marB="254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400" dirty="0">
                          <a:solidFill>
                            <a:srgbClr val="2B2B2B"/>
                          </a:solidFill>
                          <a:latin typeface="Calibri"/>
                          <a:cs typeface="Calibri"/>
                        </a:rPr>
                        <a:t>0.08</a:t>
                      </a:r>
                    </a:p>
                  </a:txBody>
                  <a:tcPr marL="76200" marR="76200" marT="25400" marB="254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400" dirty="0">
                          <a:solidFill>
                            <a:srgbClr val="2B2B2B"/>
                          </a:solidFill>
                          <a:latin typeface="Calibri"/>
                          <a:cs typeface="Calibri"/>
                        </a:rPr>
                        <a:t>38.16</a:t>
                      </a:r>
                    </a:p>
                  </a:txBody>
                  <a:tcPr marL="76200" marR="76200" marT="25400" marB="254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1" name="Text 21"/>
          <p:cNvSpPr txBox="1"/>
          <p:nvPr/>
        </p:nvSpPr>
        <p:spPr>
          <a:xfrm>
            <a:off x="571500" y="3175000"/>
            <a:ext cx="6731000" cy="215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1500" b="1" dirty="0">
                <a:solidFill>
                  <a:srgbClr val="5F1937"/>
                </a:solidFill>
                <a:latin typeface="Calibri"/>
                <a:cs typeface="Calibri"/>
              </a:rPr>
              <a:t>Closed forms</a:t>
            </a:r>
            <a:endParaRPr lang="en-GB" sz="1500" dirty="0"/>
          </a:p>
          <a:p>
            <a:pPr marL="0" indent="0">
              <a:lnSpc>
                <a:spcPct val="100000"/>
              </a:lnSpc>
              <a:spcBef>
                <a:spcPts val="800"/>
              </a:spcBef>
              <a:buNone/>
              <a:tabLst>
                <a:tab pos="6705600" algn="r"/>
              </a:tabLst>
            </a:pPr>
            <a:r>
              <a:rPr lang="en-GB" sz="1500" dirty="0">
                <a:solidFill>
                  <a:srgbClr val="2B2B2B"/>
                </a:solidFill>
                <a:latin typeface="Cambria Math"/>
                <a:cs typeface="Cambria Math"/>
              </a:rPr>
              <a:t>Δ = N(h</a:t>
            </a:r>
            <a:r>
              <a:rPr lang="en-GB" sz="1500" baseline="-25000" dirty="0">
                <a:solidFill>
                  <a:srgbClr val="2B2B2B"/>
                </a:solidFill>
                <a:latin typeface="Cambria Math"/>
                <a:cs typeface="Cambria Math"/>
              </a:rPr>
              <a:t>1</a:t>
            </a:r>
            <a:r>
              <a:rPr lang="en-GB" sz="1500" dirty="0">
                <a:solidFill>
                  <a:srgbClr val="2B2B2B"/>
                </a:solidFill>
                <a:latin typeface="Cambria Math"/>
                <a:cs typeface="Cambria Math"/>
              </a:rPr>
              <a:t>),   Γ = φ(h</a:t>
            </a:r>
            <a:r>
              <a:rPr lang="en-GB" sz="1500" baseline="-25000" dirty="0">
                <a:solidFill>
                  <a:srgbClr val="2B2B2B"/>
                </a:solidFill>
                <a:latin typeface="Cambria Math"/>
                <a:cs typeface="Cambria Math"/>
              </a:rPr>
              <a:t>1</a:t>
            </a:r>
            <a:r>
              <a:rPr lang="en-GB" sz="1500" dirty="0">
                <a:solidFill>
                  <a:srgbClr val="2B2B2B"/>
                </a:solidFill>
                <a:latin typeface="Cambria Math"/>
                <a:cs typeface="Cambria Math"/>
              </a:rPr>
              <a:t>) / (Sσ√T),   Vega = Sφ(h</a:t>
            </a:r>
            <a:r>
              <a:rPr lang="en-GB" sz="1500" baseline="-25000" dirty="0">
                <a:solidFill>
                  <a:srgbClr val="2B2B2B"/>
                </a:solidFill>
                <a:latin typeface="Cambria Math"/>
                <a:cs typeface="Cambria Math"/>
              </a:rPr>
              <a:t>1</a:t>
            </a:r>
            <a:r>
              <a:rPr lang="en-GB" sz="1500" dirty="0">
                <a:solidFill>
                  <a:srgbClr val="2B2B2B"/>
                </a:solidFill>
                <a:latin typeface="Cambria Math"/>
                <a:cs typeface="Cambria Math"/>
              </a:rPr>
              <a:t>)√T</a:t>
            </a:r>
            <a:endParaRPr lang="en-GB" sz="1500" dirty="0"/>
          </a:p>
          <a:p>
            <a:pPr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GB" sz="1300" dirty="0">
                <a:solidFill>
                  <a:srgbClr val="6B6B6B"/>
                </a:solidFill>
                <a:latin typeface="Calibri"/>
                <a:cs typeface="Calibri"/>
              </a:rPr>
              <a:t>The “magic cancellation” behind Δ = N(h</a:t>
            </a:r>
            <a:r>
              <a:rPr lang="en-GB" sz="1300" baseline="-25000" dirty="0">
                <a:solidFill>
                  <a:srgbClr val="6B6B6B"/>
                </a:solidFill>
                <a:latin typeface="Calibri"/>
                <a:cs typeface="Calibri"/>
              </a:rPr>
              <a:t>1</a:t>
            </a:r>
            <a:r>
              <a:rPr lang="en-GB" sz="1300" dirty="0">
                <a:solidFill>
                  <a:srgbClr val="6B6B6B"/>
                </a:solidFill>
                <a:latin typeface="Calibri"/>
                <a:cs typeface="Calibri"/>
              </a:rPr>
              <a:t>) is Sφ(h</a:t>
            </a:r>
            <a:r>
              <a:rPr lang="en-GB" sz="1300" baseline="-25000" dirty="0">
                <a:solidFill>
                  <a:srgbClr val="6B6B6B"/>
                </a:solidFill>
                <a:latin typeface="Calibri"/>
                <a:cs typeface="Calibri"/>
              </a:rPr>
              <a:t>1</a:t>
            </a:r>
            <a:r>
              <a:rPr lang="en-GB" sz="1300" dirty="0">
                <a:solidFill>
                  <a:srgbClr val="6B6B6B"/>
                </a:solidFill>
                <a:latin typeface="Calibri"/>
                <a:cs typeface="Calibri"/>
              </a:rPr>
              <a:t>) = Ke</a:t>
            </a:r>
            <a:r>
              <a:rPr lang="en-GB" sz="1300" baseline="30000" dirty="0">
                <a:solidFill>
                  <a:srgbClr val="6B6B6B"/>
                </a:solidFill>
                <a:latin typeface="Calibri"/>
                <a:cs typeface="Calibri"/>
              </a:rPr>
              <a:t>−rT</a:t>
            </a:r>
            <a:r>
              <a:rPr lang="en-GB" sz="1300" dirty="0">
                <a:solidFill>
                  <a:srgbClr val="6B6B6B"/>
                </a:solidFill>
                <a:latin typeface="Calibri"/>
                <a:cs typeface="Calibri"/>
              </a:rPr>
              <a:t>φ(h</a:t>
            </a:r>
            <a:r>
              <a:rPr lang="en-GB" sz="1300" baseline="-25000" dirty="0">
                <a:solidFill>
                  <a:srgbClr val="6B6B6B"/>
                </a:solidFill>
                <a:latin typeface="Calibri"/>
                <a:cs typeface="Calibri"/>
              </a:rPr>
              <a:t>2</a:t>
            </a:r>
            <a:r>
              <a:rPr lang="en-GB" sz="1300" dirty="0">
                <a:solidFill>
                  <a:srgbClr val="6B6B6B"/>
                </a:solidFill>
                <a:latin typeface="Calibri"/>
                <a:cs typeface="Calibri"/>
              </a:rPr>
              <a:t>) (backup).</a:t>
            </a:r>
            <a:endParaRPr lang="en-GB" sz="1300" dirty="0"/>
          </a:p>
          <a:p>
            <a:pPr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GB" sz="1400" dirty="0">
                <a:solidFill>
                  <a:srgbClr val="2B2B2B"/>
                </a:solidFill>
                <a:latin typeface="Calibri"/>
                <a:cs typeface="Calibri"/>
              </a:rPr>
              <a:t>Vega is per 1.00 of volatility: per vol point (20% → 21%) the price moves by </a:t>
            </a:r>
            <a:r>
              <a:rPr lang="en-GB" sz="1400" b="1" dirty="0">
                <a:solidFill>
                  <a:srgbClr val="2B2B2B"/>
                </a:solidFill>
                <a:latin typeface="Calibri"/>
                <a:cs typeface="Calibri"/>
              </a:rPr>
              <a:t>0.38</a:t>
            </a:r>
            <a:r>
              <a:rPr lang="en-GB" sz="1400" dirty="0">
                <a:solidFill>
                  <a:srgbClr val="2B2B2B"/>
                </a:solidFill>
                <a:latin typeface="Calibri"/>
                <a:cs typeface="Calibri"/>
              </a:rPr>
              <a:t>.</a:t>
            </a:r>
            <a:endParaRPr lang="en-GB" sz="1400" dirty="0"/>
          </a:p>
        </p:txBody>
      </p:sp>
      <p:sp>
        <p:nvSpPr>
          <p:cNvPr id="30" name="Shape 30"/>
          <p:cNvSpPr/>
          <p:nvPr/>
        </p:nvSpPr>
        <p:spPr>
          <a:xfrm>
            <a:off x="7620000" y="1244600"/>
            <a:ext cx="4013200" cy="4089400"/>
          </a:xfrm>
          <a:prstGeom prst="rect">
            <a:avLst/>
          </a:prstGeom>
          <a:solidFill>
            <a:srgbClr val="EDE5E8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31"/>
          <p:cNvSpPr txBox="1"/>
          <p:nvPr/>
        </p:nvSpPr>
        <p:spPr>
          <a:xfrm>
            <a:off x="7848600" y="1422400"/>
            <a:ext cx="358140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1600" b="1" dirty="0">
                <a:solidFill>
                  <a:srgbClr val="5F1937"/>
                </a:solidFill>
                <a:latin typeface="Calibri"/>
                <a:cs typeface="Calibri"/>
              </a:rPr>
              <a:t>The option is at the money. Why is delta 0.62 and not 0.5?</a:t>
            </a:r>
            <a:endParaRPr lang="en-GB" sz="1600" dirty="0"/>
          </a:p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GB" sz="1400" b="1" dirty="0">
                <a:solidFill>
                  <a:srgbClr val="2B2B2B"/>
                </a:solidFill>
                <a:latin typeface="Calibri"/>
                <a:cs typeface="Calibri"/>
              </a:rPr>
              <a:t>Answer:</a:t>
            </a:r>
            <a:endParaRPr lang="en-GB" sz="1400" dirty="0"/>
          </a:p>
          <a:p>
            <a:pPr marL="203200" indent="-203200">
              <a:lnSpc>
                <a:spcPct val="100000"/>
              </a:lnSpc>
              <a:spcBef>
                <a:spcPts val="600"/>
              </a:spcBef>
              <a:buClr>
                <a:srgbClr val="32B496"/>
              </a:buClr>
              <a:buSzPct val="75000"/>
              <a:buFont typeface="Arial"/>
              <a:buChar char="►"/>
            </a:pPr>
            <a:r>
              <a:rPr lang="en-GB" sz="1400" dirty="0">
                <a:solidFill>
                  <a:srgbClr val="2B2B2B"/>
                </a:solidFill>
                <a:latin typeface="Calibri"/>
                <a:cs typeface="Calibri"/>
              </a:rPr>
              <a:t>h</a:t>
            </a:r>
            <a:r>
              <a:rPr lang="en-GB" sz="1400" baseline="-25000" dirty="0">
                <a:solidFill>
                  <a:srgbClr val="2B2B2B"/>
                </a:solidFill>
                <a:latin typeface="Calibri"/>
                <a:cs typeface="Calibri"/>
              </a:rPr>
              <a:t>1</a:t>
            </a:r>
            <a:r>
              <a:rPr lang="en-GB" sz="1400" dirty="0">
                <a:solidFill>
                  <a:srgbClr val="2B2B2B"/>
                </a:solidFill>
                <a:latin typeface="Calibri"/>
                <a:cs typeface="Calibri"/>
              </a:rPr>
              <a:t> = (r + ½σ</a:t>
            </a:r>
            <a:r>
              <a:rPr lang="en-GB" sz="1400" baseline="30000" dirty="0">
                <a:solidFill>
                  <a:srgbClr val="2B2B2B"/>
                </a:solidFill>
                <a:latin typeface="Calibri"/>
                <a:cs typeface="Calibri"/>
              </a:rPr>
              <a:t>2</a:t>
            </a:r>
            <a:r>
              <a:rPr lang="en-GB" sz="1400" dirty="0">
                <a:solidFill>
                  <a:srgbClr val="2B2B2B"/>
                </a:solidFill>
                <a:latin typeface="Calibri"/>
                <a:cs typeface="Calibri"/>
              </a:rPr>
              <a:t>)√T / σ = 0.297 &gt; 0.</a:t>
            </a:r>
            <a:endParaRPr lang="en-GB" sz="1400" dirty="0"/>
          </a:p>
          <a:p>
            <a:pPr marL="203200" indent="-203200">
              <a:lnSpc>
                <a:spcPct val="100000"/>
              </a:lnSpc>
              <a:spcBef>
                <a:spcPts val="600"/>
              </a:spcBef>
              <a:buClr>
                <a:srgbClr val="32B496"/>
              </a:buClr>
              <a:buSzPct val="75000"/>
              <a:buFont typeface="Arial"/>
              <a:buChar char="►"/>
            </a:pPr>
            <a:r>
              <a:rPr lang="en-GB" sz="1400" dirty="0">
                <a:solidFill>
                  <a:srgbClr val="2B2B2B"/>
                </a:solidFill>
                <a:latin typeface="Calibri"/>
                <a:cs typeface="Calibri"/>
              </a:rPr>
              <a:t>The forward S</a:t>
            </a:r>
            <a:r>
              <a:rPr lang="en-GB" sz="1400" baseline="-25000" dirty="0">
                <a:solidFill>
                  <a:srgbClr val="2B2B2B"/>
                </a:solidFill>
                <a:latin typeface="Calibri"/>
                <a:cs typeface="Calibri"/>
              </a:rPr>
              <a:t>0</a:t>
            </a:r>
            <a:r>
              <a:rPr lang="en-GB" sz="1400" dirty="0">
                <a:solidFill>
                  <a:srgbClr val="2B2B2B"/>
                </a:solidFill>
                <a:latin typeface="Calibri"/>
                <a:cs typeface="Calibri"/>
              </a:rPr>
              <a:t>e</a:t>
            </a:r>
            <a:r>
              <a:rPr lang="en-GB" sz="1400" baseline="30000" dirty="0">
                <a:solidFill>
                  <a:srgbClr val="2B2B2B"/>
                </a:solidFill>
                <a:latin typeface="Calibri"/>
                <a:cs typeface="Calibri"/>
              </a:rPr>
              <a:t>rT</a:t>
            </a:r>
            <a:r>
              <a:rPr lang="en-GB" sz="1400" dirty="0">
                <a:solidFill>
                  <a:srgbClr val="2B2B2B"/>
                </a:solidFill>
                <a:latin typeface="Calibri"/>
                <a:cs typeface="Calibri"/>
              </a:rPr>
              <a:t> ≈ 104 &gt; K, and the lognormal is right-skewed.</a:t>
            </a:r>
            <a:endParaRPr lang="en-GB" sz="1400" dirty="0"/>
          </a:p>
          <a:p>
            <a:pPr marL="203200" indent="-203200">
              <a:lnSpc>
                <a:spcPct val="100000"/>
              </a:lnSpc>
              <a:spcBef>
                <a:spcPts val="600"/>
              </a:spcBef>
              <a:buClr>
                <a:srgbClr val="32B496"/>
              </a:buClr>
              <a:buSzPct val="75000"/>
              <a:buFont typeface="Arial"/>
              <a:buChar char="►"/>
            </a:pPr>
            <a:r>
              <a:rPr lang="en-GB" sz="1400" dirty="0">
                <a:solidFill>
                  <a:srgbClr val="2B2B2B"/>
                </a:solidFill>
                <a:latin typeface="Calibri"/>
                <a:cs typeface="Calibri"/>
              </a:rPr>
              <a:t>Delta is a hedge ratio, </a:t>
            </a:r>
            <a:r>
              <a:rPr lang="en-GB" sz="1400" b="1" dirty="0">
                <a:solidFill>
                  <a:srgbClr val="2B2B2B"/>
                </a:solidFill>
                <a:latin typeface="Calibri"/>
                <a:cs typeface="Calibri"/>
              </a:rPr>
              <a:t>not the probability of exercise</a:t>
            </a:r>
            <a:r>
              <a:rPr lang="en-GB" sz="1400" dirty="0">
                <a:solidFill>
                  <a:srgbClr val="2B2B2B"/>
                </a:solidFill>
                <a:latin typeface="Calibri"/>
                <a:cs typeface="Calibri"/>
              </a:rPr>
              <a:t>: N(h</a:t>
            </a:r>
            <a:r>
              <a:rPr lang="en-GB" sz="1400" baseline="-25000" dirty="0">
                <a:solidFill>
                  <a:srgbClr val="2B2B2B"/>
                </a:solidFill>
                <a:latin typeface="Calibri"/>
                <a:cs typeface="Calibri"/>
              </a:rPr>
              <a:t>2</a:t>
            </a:r>
            <a:r>
              <a:rPr lang="en-GB" sz="1400" dirty="0">
                <a:solidFill>
                  <a:srgbClr val="2B2B2B"/>
                </a:solidFill>
                <a:latin typeface="Calibri"/>
                <a:cs typeface="Calibri"/>
              </a:rPr>
              <a:t>) = 0.54.</a:t>
            </a:r>
            <a:endParaRPr lang="en-GB" sz="1400" dirty="0"/>
          </a:p>
        </p:txBody>
      </p:sp>
      <p:sp>
        <p:nvSpPr>
          <p:cNvPr id="40" name="Shape 40"/>
          <p:cNvSpPr/>
          <p:nvPr/>
        </p:nvSpPr>
        <p:spPr>
          <a:xfrm>
            <a:off x="571500" y="5537200"/>
            <a:ext cx="11061700" cy="635000"/>
          </a:xfrm>
          <a:prstGeom prst="rect">
            <a:avLst/>
          </a:prstGeom>
          <a:solidFill>
            <a:srgbClr val="EDE5E8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41" name="Shape 41"/>
          <p:cNvSpPr/>
          <p:nvPr/>
        </p:nvSpPr>
        <p:spPr>
          <a:xfrm>
            <a:off x="571500" y="5537200"/>
            <a:ext cx="63500" cy="635000"/>
          </a:xfrm>
          <a:prstGeom prst="rect">
            <a:avLst/>
          </a:prstGeom>
          <a:solidFill>
            <a:srgbClr val="32B496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42" name="Text 42"/>
          <p:cNvSpPr txBox="1"/>
          <p:nvPr/>
        </p:nvSpPr>
        <p:spPr>
          <a:xfrm>
            <a:off x="825500" y="5537200"/>
            <a:ext cx="105410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1500" dirty="0">
                <a:solidFill>
                  <a:srgbClr val="2B2B2B"/>
                </a:solidFill>
                <a:latin typeface="Calibri"/>
                <a:cs typeface="Calibri"/>
              </a:rPr>
              <a:t>All three methods </a:t>
            </a:r>
            <a:r>
              <a:rPr lang="en-GB" sz="1500" b="1" dirty="0">
                <a:solidFill>
                  <a:srgbClr val="2B2B2B"/>
                </a:solidFill>
                <a:latin typeface="Calibri"/>
                <a:cs typeface="Calibri"/>
              </a:rPr>
              <a:t>agree to 3–4 digits</a:t>
            </a:r>
            <a:r>
              <a:rPr lang="en-GB" sz="1500" dirty="0">
                <a:solidFill>
                  <a:srgbClr val="2B2B2B"/>
                </a:solidFill>
                <a:latin typeface="Calibri"/>
                <a:cs typeface="Calibri"/>
              </a:rPr>
              <a:t>; every MC estimate is within 0.5 standard errors of Black-Scholes.</a:t>
            </a:r>
            <a:endParaRPr lang="en-GB" sz="15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1E60578-FA30-3F3C-7975-B2E869C86452}"/>
              </a:ext>
            </a:extLst>
          </p:cNvPr>
          <p:cNvSpPr/>
          <p:nvPr/>
        </p:nvSpPr>
        <p:spPr>
          <a:xfrm>
            <a:off x="5710630" y="4686300"/>
            <a:ext cx="3859480" cy="131816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Formeln in appendix, das auch auf der slide sagen</a:t>
            </a:r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44504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38912"/>
            <a:ext cx="420624" cy="420624"/>
          </a:xfrm>
          <a:prstGeom prst="rect">
            <a:avLst/>
          </a:prstGeom>
          <a:solidFill>
            <a:srgbClr val="32B496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Text 1"/>
          <p:cNvSpPr txBox="1"/>
          <p:nvPr/>
        </p:nvSpPr>
        <p:spPr>
          <a:xfrm>
            <a:off x="566928" y="4389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GB" sz="1600" b="1" dirty="0">
                <a:solidFill>
                  <a:srgbClr val="FFFFFF"/>
                </a:solidFill>
                <a:latin typeface="Calibri"/>
                <a:cs typeface="Calibri"/>
              </a:rPr>
              <a:t>4</a:t>
            </a:r>
          </a:p>
        </p:txBody>
      </p:sp>
      <p:sp>
        <p:nvSpPr>
          <p:cNvPr id="4" name="Text 2"/>
          <p:cNvSpPr txBox="1"/>
          <p:nvPr/>
        </p:nvSpPr>
        <p:spPr>
          <a:xfrm>
            <a:off x="1188720" y="384048"/>
            <a:ext cx="1043604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2800" b="1" dirty="0">
                <a:solidFill>
                  <a:srgbClr val="5F1937"/>
                </a:solidFill>
                <a:latin typeface="Calibri"/>
                <a:cs typeface="Calibri"/>
              </a:rPr>
              <a:t>Greeks</a:t>
            </a:r>
            <a:r>
              <a:rPr lang="en-GB" sz="2000" dirty="0">
                <a:solidFill>
                  <a:srgbClr val="6B6B6B"/>
                </a:solidFill>
                <a:latin typeface="Calibri"/>
                <a:cs typeface="Calibri"/>
              </a:rPr>
              <a:t>   how each method gets them</a:t>
            </a:r>
          </a:p>
        </p:txBody>
      </p:sp>
      <p:sp>
        <p:nvSpPr>
          <p:cNvPr id="14" name="Text 12"/>
          <p:cNvSpPr txBox="1"/>
          <p:nvPr/>
        </p:nvSpPr>
        <p:spPr>
          <a:xfrm>
            <a:off x="566928" y="643737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EDHEC Business School  |  FIN 6999 Financial Derivatives  |  Mid-term project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1076127" y="6437376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GB" sz="1000" b="1" dirty="0">
                <a:solidFill>
                  <a:srgbClr val="5F1937"/>
                </a:solidFill>
                <a:latin typeface="Calibri"/>
                <a:cs typeface="Calibri"/>
              </a:rPr>
              <a:t>11</a:t>
            </a:r>
          </a:p>
        </p:txBody>
      </p:sp>
      <p:pic>
        <p:nvPicPr>
          <p:cNvPr id="16" name="Monte Carlo gamma vs bump size h, 200,000 paths" descr="Monte Carlo gamma vs bump size h, 200,000 paths">
            <a:extLst>
              <a:ext uri="{FF2B5EF4-FFF2-40B4-BE49-F238E27FC236}">
                <a16:creationId xmlns:a16="http://schemas.microsoft.com/office/drawing/2014/main" id="{CDF0A2D2-0F82-BF81-14B7-42758AFF50D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9600" r="67050"/>
          <a:stretch>
            <a:fillRect/>
          </a:stretch>
        </p:blipFill>
        <p:spPr>
          <a:xfrm>
            <a:off x="7569200" y="1244600"/>
            <a:ext cx="4089400" cy="3251200"/>
          </a:xfrm>
          <a:prstGeom prst="rect">
            <a:avLst/>
          </a:prstGeom>
        </p:spPr>
      </p:pic>
      <p:sp>
        <p:nvSpPr>
          <p:cNvPr id="20" name="Text 20"/>
          <p:cNvSpPr txBox="1"/>
          <p:nvPr/>
        </p:nvSpPr>
        <p:spPr>
          <a:xfrm>
            <a:off x="571500" y="1206500"/>
            <a:ext cx="6731000" cy="419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1600" b="1" dirty="0">
                <a:solidFill>
                  <a:srgbClr val="5F1937"/>
                </a:solidFill>
                <a:latin typeface="Calibri"/>
                <a:cs typeface="Calibri"/>
              </a:rPr>
              <a:t>Tree</a:t>
            </a:r>
            <a:endParaRPr lang="en-GB" sz="1600" dirty="0"/>
          </a:p>
          <a:p>
            <a:pPr marL="203200" indent="-203200">
              <a:lnSpc>
                <a:spcPct val="100000"/>
              </a:lnSpc>
              <a:spcBef>
                <a:spcPts val="400"/>
              </a:spcBef>
              <a:buClr>
                <a:srgbClr val="32B496"/>
              </a:buClr>
              <a:buSzPct val="75000"/>
              <a:buFont typeface="Arial"/>
              <a:buChar char="►"/>
            </a:pPr>
            <a:r>
              <a:rPr lang="en-GB" sz="1400" dirty="0">
                <a:solidFill>
                  <a:srgbClr val="2B2B2B"/>
                </a:solidFill>
                <a:latin typeface="Calibri"/>
                <a:cs typeface="Calibri"/>
              </a:rPr>
              <a:t>Delta and gamma come </a:t>
            </a:r>
            <a:r>
              <a:rPr lang="en-GB" sz="1400" b="1" dirty="0">
                <a:solidFill>
                  <a:srgbClr val="2B2B2B"/>
                </a:solidFill>
                <a:latin typeface="Calibri"/>
                <a:cs typeface="Calibri"/>
              </a:rPr>
              <a:t>for free</a:t>
            </a:r>
            <a:r>
              <a:rPr lang="en-GB" sz="1400" dirty="0">
                <a:solidFill>
                  <a:srgbClr val="2B2B2B"/>
                </a:solidFill>
                <a:latin typeface="Calibri"/>
                <a:cs typeface="Calibri"/>
              </a:rPr>
              <a:t> from the first nodes: Δ = (C</a:t>
            </a:r>
            <a:r>
              <a:rPr lang="en-GB" sz="1400" baseline="-25000" dirty="0">
                <a:solidFill>
                  <a:srgbClr val="2B2B2B"/>
                </a:solidFill>
                <a:latin typeface="Calibri"/>
                <a:cs typeface="Calibri"/>
              </a:rPr>
              <a:t>u</a:t>
            </a:r>
            <a:r>
              <a:rPr lang="en-GB" sz="1400" dirty="0">
                <a:solidFill>
                  <a:srgbClr val="2B2B2B"/>
                </a:solidFill>
                <a:latin typeface="Calibri"/>
                <a:cs typeface="Calibri"/>
              </a:rPr>
              <a:t> − C</a:t>
            </a:r>
            <a:r>
              <a:rPr lang="en-GB" sz="1400" baseline="-25000" dirty="0">
                <a:solidFill>
                  <a:srgbClr val="2B2B2B"/>
                </a:solidFill>
                <a:latin typeface="Calibri"/>
                <a:cs typeface="Calibri"/>
              </a:rPr>
              <a:t>d</a:t>
            </a:r>
            <a:r>
              <a:rPr lang="en-GB" sz="1400" dirty="0">
                <a:solidFill>
                  <a:srgbClr val="2B2B2B"/>
                </a:solidFill>
                <a:latin typeface="Calibri"/>
                <a:cs typeface="Calibri"/>
              </a:rPr>
              <a:t>) / (Su − Sd), as in one-period replication.</a:t>
            </a:r>
            <a:endParaRPr lang="en-GB" sz="1400" dirty="0"/>
          </a:p>
          <a:p>
            <a:pPr marL="203200" indent="-203200">
              <a:lnSpc>
                <a:spcPct val="100000"/>
              </a:lnSpc>
              <a:spcBef>
                <a:spcPts val="400"/>
              </a:spcBef>
              <a:buClr>
                <a:srgbClr val="32B496"/>
              </a:buClr>
              <a:buSzPct val="75000"/>
              <a:buFont typeface="Arial"/>
              <a:buChar char="►"/>
            </a:pPr>
            <a:r>
              <a:rPr lang="en-GB" sz="1400" dirty="0">
                <a:solidFill>
                  <a:srgbClr val="2B2B2B"/>
                </a:solidFill>
                <a:latin typeface="Calibri"/>
                <a:cs typeface="Calibri"/>
              </a:rPr>
              <a:t>Vega needs two extra trees (σ is not a dimension of the tree). Error ∝ 1/N.</a:t>
            </a:r>
            <a:endParaRPr lang="en-GB" sz="1400" dirty="0"/>
          </a:p>
          <a:p>
            <a:pPr marL="0" indent="0">
              <a:lnSpc>
                <a:spcPct val="100000"/>
              </a:lnSpc>
              <a:spcBef>
                <a:spcPts val="1400"/>
              </a:spcBef>
              <a:buNone/>
            </a:pPr>
            <a:r>
              <a:rPr lang="en-GB" sz="1600" b="1" dirty="0">
                <a:solidFill>
                  <a:srgbClr val="5F1937"/>
                </a:solidFill>
                <a:latin typeface="Calibri"/>
                <a:cs typeface="Calibri"/>
              </a:rPr>
              <a:t>Monte Carlo</a:t>
            </a:r>
            <a:endParaRPr lang="en-GB" sz="1600" dirty="0"/>
          </a:p>
          <a:p>
            <a:pPr marL="203200" indent="-203200">
              <a:lnSpc>
                <a:spcPct val="100000"/>
              </a:lnSpc>
              <a:spcBef>
                <a:spcPts val="400"/>
              </a:spcBef>
              <a:buClr>
                <a:srgbClr val="32B496"/>
              </a:buClr>
              <a:buSzPct val="75000"/>
              <a:buFont typeface="Arial"/>
              <a:buChar char="►"/>
            </a:pPr>
            <a:r>
              <a:rPr lang="en-GB" sz="1400" dirty="0">
                <a:solidFill>
                  <a:srgbClr val="2B2B2B"/>
                </a:solidFill>
                <a:latin typeface="Calibri"/>
                <a:cs typeface="Calibri"/>
              </a:rPr>
              <a:t>Bump and reprice with the </a:t>
            </a:r>
            <a:r>
              <a:rPr lang="en-GB" sz="1400" b="1" dirty="0">
                <a:solidFill>
                  <a:srgbClr val="2B2B2B"/>
                </a:solidFill>
                <a:latin typeface="Calibri"/>
                <a:cs typeface="Calibri"/>
              </a:rPr>
              <a:t>same random numbers</a:t>
            </a:r>
            <a:r>
              <a:rPr lang="en-GB" sz="1400" dirty="0">
                <a:solidFill>
                  <a:srgbClr val="2B2B2B"/>
                </a:solidFill>
                <a:latin typeface="Calibri"/>
                <a:cs typeface="Calibri"/>
              </a:rPr>
              <a:t>:</a:t>
            </a:r>
            <a:endParaRPr lang="en-GB" sz="1400" dirty="0"/>
          </a:p>
          <a:p>
            <a:pPr marL="406400" indent="0">
              <a:lnSpc>
                <a:spcPct val="100000"/>
              </a:lnSpc>
              <a:spcBef>
                <a:spcPts val="400"/>
              </a:spcBef>
              <a:buNone/>
              <a:tabLst>
                <a:tab pos="6299200" algn="r"/>
              </a:tabLst>
            </a:pPr>
            <a:r>
              <a:rPr lang="en-GB" sz="1400" dirty="0">
                <a:solidFill>
                  <a:srgbClr val="2B2B2B"/>
                </a:solidFill>
                <a:latin typeface="Cambria Math"/>
                <a:cs typeface="Cambria Math"/>
              </a:rPr>
              <a:t>Δ ≈ [C(S+h) − C(S−h)] / 2h</a:t>
            </a:r>
            <a:endParaRPr lang="en-GB" sz="1400" dirty="0"/>
          </a:p>
          <a:p>
            <a:pPr marL="406400" indent="0">
              <a:lnSpc>
                <a:spcPct val="100000"/>
              </a:lnSpc>
              <a:spcBef>
                <a:spcPts val="200"/>
              </a:spcBef>
              <a:buNone/>
              <a:tabLst>
                <a:tab pos="6299200" algn="r"/>
              </a:tabLst>
            </a:pPr>
            <a:r>
              <a:rPr lang="en-GB" sz="1400" dirty="0">
                <a:solidFill>
                  <a:srgbClr val="2B2B2B"/>
                </a:solidFill>
                <a:latin typeface="Cambria Math"/>
                <a:cs typeface="Cambria Math"/>
              </a:rPr>
              <a:t>Γ ≈ [C(S+h) − 2C(S) + C(S−h)] / h</a:t>
            </a:r>
            <a:r>
              <a:rPr lang="en-GB" sz="1400" baseline="30000" dirty="0">
                <a:solidFill>
                  <a:srgbClr val="2B2B2B"/>
                </a:solidFill>
                <a:latin typeface="Cambria Math"/>
                <a:cs typeface="Cambria Math"/>
              </a:rPr>
              <a:t>2</a:t>
            </a:r>
            <a:endParaRPr lang="en-GB" sz="1400" dirty="0"/>
          </a:p>
          <a:p>
            <a:pPr marL="203200" indent="-203200">
              <a:lnSpc>
                <a:spcPct val="100000"/>
              </a:lnSpc>
              <a:spcBef>
                <a:spcPts val="600"/>
              </a:spcBef>
              <a:buClr>
                <a:srgbClr val="32B496"/>
              </a:buClr>
              <a:buSzPct val="75000"/>
              <a:buFont typeface="Arial"/>
              <a:buChar char="►"/>
            </a:pPr>
            <a:r>
              <a:rPr lang="en-GB" sz="1400" dirty="0">
                <a:solidFill>
                  <a:srgbClr val="2B2B2B"/>
                </a:solidFill>
                <a:latin typeface="Calibri"/>
                <a:cs typeface="Calibri"/>
              </a:rPr>
              <a:t>Bias ∝ h</a:t>
            </a:r>
            <a:r>
              <a:rPr lang="en-GB" sz="1400" baseline="30000" dirty="0">
                <a:solidFill>
                  <a:srgbClr val="2B2B2B"/>
                </a:solidFill>
                <a:latin typeface="Calibri"/>
                <a:cs typeface="Calibri"/>
              </a:rPr>
              <a:t>2</a:t>
            </a:r>
            <a:r>
              <a:rPr lang="en-GB" sz="1400" dirty="0">
                <a:solidFill>
                  <a:srgbClr val="2B2B2B"/>
                </a:solidFill>
                <a:latin typeface="Calibri"/>
                <a:cs typeface="Calibri"/>
              </a:rPr>
              <a:t>, but Var(Γ) ∝ 1/h: only paths ending near K contribute. A </a:t>
            </a:r>
            <a:r>
              <a:rPr lang="en-GB" sz="1400" b="1" dirty="0">
                <a:solidFill>
                  <a:srgbClr val="2B2B2B"/>
                </a:solidFill>
                <a:latin typeface="Calibri"/>
                <a:cs typeface="Calibri"/>
              </a:rPr>
              <a:t>bias-variance trade-off</a:t>
            </a:r>
            <a:r>
              <a:rPr lang="en-GB" sz="1400" dirty="0">
                <a:solidFill>
                  <a:srgbClr val="2B2B2B"/>
                </a:solidFill>
                <a:latin typeface="Calibri"/>
                <a:cs typeface="Calibri"/>
              </a:rPr>
              <a:t>; we use h = 1.</a:t>
            </a:r>
            <a:endParaRPr lang="en-GB" sz="1400" dirty="0"/>
          </a:p>
        </p:txBody>
      </p:sp>
      <p:sp>
        <p:nvSpPr>
          <p:cNvPr id="22" name="Text 22"/>
          <p:cNvSpPr txBox="1"/>
          <p:nvPr/>
        </p:nvSpPr>
        <p:spPr>
          <a:xfrm>
            <a:off x="7569200" y="4597400"/>
            <a:ext cx="40640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1200" dirty="0">
                <a:solidFill>
                  <a:srgbClr val="6B6B6B"/>
                </a:solidFill>
                <a:latin typeface="Calibri"/>
                <a:cs typeface="Calibri"/>
              </a:rPr>
              <a:t>Small h: unbiased but noisy. Large h: smooth but biased. Gamma has about 6× the relative error of delta.</a:t>
            </a:r>
            <a:endParaRPr lang="en-GB" sz="1200" dirty="0"/>
          </a:p>
        </p:txBody>
      </p:sp>
      <p:sp>
        <p:nvSpPr>
          <p:cNvPr id="40" name="Shape 40"/>
          <p:cNvSpPr/>
          <p:nvPr/>
        </p:nvSpPr>
        <p:spPr>
          <a:xfrm>
            <a:off x="571500" y="5537200"/>
            <a:ext cx="11061700" cy="635000"/>
          </a:xfrm>
          <a:prstGeom prst="rect">
            <a:avLst/>
          </a:prstGeom>
          <a:solidFill>
            <a:srgbClr val="EDE5E8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41" name="Shape 41"/>
          <p:cNvSpPr/>
          <p:nvPr/>
        </p:nvSpPr>
        <p:spPr>
          <a:xfrm>
            <a:off x="571500" y="5537200"/>
            <a:ext cx="63500" cy="635000"/>
          </a:xfrm>
          <a:prstGeom prst="rect">
            <a:avLst/>
          </a:prstGeom>
          <a:solidFill>
            <a:srgbClr val="32B496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42" name="Text 42"/>
          <p:cNvSpPr txBox="1"/>
          <p:nvPr/>
        </p:nvSpPr>
        <p:spPr>
          <a:xfrm>
            <a:off x="825500" y="5537200"/>
            <a:ext cx="105410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1500" dirty="0">
                <a:solidFill>
                  <a:srgbClr val="2B2B2B"/>
                </a:solidFill>
                <a:latin typeface="Calibri"/>
                <a:cs typeface="Calibri"/>
              </a:rPr>
              <a:t>The tree gets Greeks almost for free. Monte Carlo has to </a:t>
            </a:r>
            <a:r>
              <a:rPr lang="en-GB" sz="1500" b="1" dirty="0">
                <a:solidFill>
                  <a:srgbClr val="2B2B2B"/>
                </a:solidFill>
                <a:latin typeface="Calibri"/>
                <a:cs typeface="Calibri"/>
              </a:rPr>
              <a:t>difference noisy numbers</a:t>
            </a:r>
            <a:r>
              <a:rPr lang="en-GB" sz="1500" dirty="0">
                <a:solidFill>
                  <a:srgbClr val="2B2B2B"/>
                </a:solidFill>
                <a:latin typeface="Calibri"/>
                <a:cs typeface="Calibri"/>
              </a:rPr>
              <a:t>, and gamma suffers most.</a:t>
            </a:r>
            <a:endParaRPr lang="en-GB" sz="15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F16CCD2-FCA4-4306-4107-03CC47811472}"/>
              </a:ext>
            </a:extLst>
          </p:cNvPr>
          <p:cNvSpPr/>
          <p:nvPr/>
        </p:nvSpPr>
        <p:spPr>
          <a:xfrm>
            <a:off x="5710630" y="4686300"/>
            <a:ext cx="3859480" cy="131816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Das sing rechts erstmal verstehen</a:t>
            </a:r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7754866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5F19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685800"/>
            <a:ext cx="110578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9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280160"/>
            <a:ext cx="10332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4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engines converge to 9.894. What matters is the volatility we put in and how often we hedge.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3291840"/>
            <a:ext cx="344210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2B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</a:t>
            </a:r>
            <a:endParaRPr lang="en-US" sz="2000" b="1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3703320"/>
            <a:ext cx="34036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EDE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 converges at order ½, the tree at order 1. The numerical error is small next to the error from the volatility input (vega).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374794" y="3291840"/>
            <a:ext cx="344210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2B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Replication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4374794" y="3703320"/>
            <a:ext cx="34036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EDE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hedging error is ½ΓS² × (implied − realised variance). With the right σ it is zero on average and shrinks like 1/√N; with the wrong σ it is a systematic P&amp;L of about Vega × vol error. It does not depend on μ.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182661" y="3291840"/>
            <a:ext cx="344210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2B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Greeks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8182661" y="3703320"/>
            <a:ext cx="34036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EDE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methods agree to 3–4 digits. Gamma and vega peak near the strike, and that is where hedging is hardest.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1076127" y="6437376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GB" sz="1000" b="1" dirty="0">
                <a:solidFill>
                  <a:srgbClr val="FFFFFF"/>
                </a:solidFill>
                <a:latin typeface="Calibri"/>
                <a:cs typeface="Calibri"/>
              </a:rPr>
              <a:t>12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571500" y="5715000"/>
            <a:ext cx="110617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2000" b="1" dirty="0">
                <a:solidFill>
                  <a:srgbClr val="32B496"/>
                </a:solidFill>
                <a:latin typeface="Calibri"/>
                <a:cs typeface="Calibri"/>
              </a:rPr>
              <a:t>Questions?</a:t>
            </a:r>
            <a:endParaRPr lang="en-GB" sz="20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B93D245-A8F5-B171-C18D-8912D3D42A85}"/>
              </a:ext>
            </a:extLst>
          </p:cNvPr>
          <p:cNvSpPr/>
          <p:nvPr/>
        </p:nvSpPr>
        <p:spPr>
          <a:xfrm>
            <a:off x="5710630" y="4686300"/>
            <a:ext cx="3859480" cy="131816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Visuell rüber gehen, rest passt pi mal daumen</a:t>
            </a:r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7132236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5F19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331720"/>
            <a:ext cx="502920" cy="1463040"/>
          </a:xfrm>
          <a:prstGeom prst="rect">
            <a:avLst/>
          </a:prstGeom>
          <a:solidFill>
            <a:srgbClr val="32B496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Text 1"/>
          <p:cNvSpPr txBox="1"/>
          <p:nvPr/>
        </p:nvSpPr>
        <p:spPr>
          <a:xfrm>
            <a:off x="1024128" y="19202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024128" y="246888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1024128" y="3474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DE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slides for Q&amp;A: hedging-error check, Δ = N(h₁), numerical details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076127" y="6437376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EDE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250F314-DFDF-C4B3-FE54-13EBABE9F23D}"/>
              </a:ext>
            </a:extLst>
          </p:cNvPr>
          <p:cNvSpPr/>
          <p:nvPr/>
        </p:nvSpPr>
        <p:spPr>
          <a:xfrm>
            <a:off x="5710630" y="4686300"/>
            <a:ext cx="3859480" cy="131816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Appendix komplett nochmal überarbeiten und viel mathematischen hintergund reinhauen </a:t>
            </a:r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2315649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38912"/>
            <a:ext cx="420624" cy="420624"/>
          </a:xfrm>
          <a:prstGeom prst="rect">
            <a:avLst/>
          </a:prstGeom>
          <a:solidFill>
            <a:srgbClr val="32B496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Text 1"/>
          <p:cNvSpPr txBox="1"/>
          <p:nvPr/>
        </p:nvSpPr>
        <p:spPr>
          <a:xfrm>
            <a:off x="566928" y="4389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GB" sz="1600" b="1" dirty="0">
                <a:solidFill>
                  <a:srgbClr val="FFFFFF"/>
                </a:solidFill>
                <a:latin typeface="Calibri"/>
                <a:cs typeface="Calibri"/>
              </a:rPr>
              <a:t>B</a:t>
            </a:r>
          </a:p>
        </p:txBody>
      </p:sp>
      <p:sp>
        <p:nvSpPr>
          <p:cNvPr id="4" name="Text 2"/>
          <p:cNvSpPr txBox="1"/>
          <p:nvPr/>
        </p:nvSpPr>
        <p:spPr>
          <a:xfrm>
            <a:off x="1188720" y="384048"/>
            <a:ext cx="1043604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2800" b="1" dirty="0">
                <a:solidFill>
                  <a:srgbClr val="5F1937"/>
                </a:solidFill>
                <a:latin typeface="Calibri"/>
                <a:cs typeface="Calibri"/>
              </a:rPr>
              <a:t>Appendix</a:t>
            </a:r>
            <a:r>
              <a:rPr lang="en-GB" sz="2000" dirty="0">
                <a:solidFill>
                  <a:srgbClr val="6B6B6B"/>
                </a:solidFill>
                <a:latin typeface="Calibri"/>
                <a:cs typeface="Calibri"/>
              </a:rPr>
              <a:t>   replication and Greeks</a:t>
            </a:r>
          </a:p>
        </p:txBody>
      </p:sp>
      <p:sp>
        <p:nvSpPr>
          <p:cNvPr id="14" name="Text 12"/>
          <p:cNvSpPr txBox="1"/>
          <p:nvPr/>
        </p:nvSpPr>
        <p:spPr>
          <a:xfrm>
            <a:off x="566928" y="643737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EDHEC Business School  |  FIN 6999 Financial Derivatives  |  Mid-term project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1076127" y="6437376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GB" sz="1000" b="1" dirty="0">
                <a:solidFill>
                  <a:srgbClr val="5F1937"/>
                </a:solidFill>
                <a:latin typeface="Calibri"/>
                <a:cs typeface="Calibri"/>
              </a:rPr>
              <a:t>14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571500" y="1206500"/>
            <a:ext cx="5080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1600" b="1" dirty="0">
                <a:solidFill>
                  <a:srgbClr val="5F1937"/>
                </a:solidFill>
                <a:latin typeface="Calibri"/>
                <a:cs typeface="Calibri"/>
              </a:rPr>
              <a:t>B1  Discrete-hedging error vs. Derman-Kamal</a:t>
            </a:r>
            <a:endParaRPr lang="en-GB" sz="1600" dirty="0"/>
          </a:p>
        </p:txBody>
      </p:sp>
      <p:cxnSp>
        <p:nvCxnSpPr>
          <p:cNvPr id="21" name="Line 21"/>
          <p:cNvCxnSpPr/>
          <p:nvPr/>
        </p:nvCxnSpPr>
        <p:spPr>
          <a:xfrm>
            <a:off x="571500" y="1562100"/>
            <a:ext cx="5080000" cy="0"/>
          </a:xfrm>
          <a:prstGeom prst="line">
            <a:avLst/>
          </a:prstGeom>
          <a:ln w="19050">
            <a:solidFill>
              <a:srgbClr val="32B496"/>
            </a:solidFill>
          </a:ln>
        </p:spPr>
      </p:cxnSp>
      <p:graphicFrame>
        <p:nvGraphicFramePr>
          <p:cNvPr id="22" name="Table 22"/>
          <p:cNvGraphicFramePr>
            <a:graphicFrameLocks noGrp="1"/>
          </p:cNvGraphicFramePr>
          <p:nvPr/>
        </p:nvGraphicFramePr>
        <p:xfrm>
          <a:off x="571500" y="1714500"/>
          <a:ext cx="5080000" cy="2438400"/>
        </p:xfrm>
        <a:graphic>
          <a:graphicData uri="http://schemas.openxmlformats.org/drawingml/2006/table">
            <a:tbl>
              <a:tblPr firstRow="1"/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400" b="1" dirty="0">
                          <a:solidFill>
                            <a:srgbClr val="5F1937"/>
                          </a:solidFill>
                          <a:latin typeface="Calibri"/>
                          <a:cs typeface="Calibri"/>
                        </a:rPr>
                        <a:t>Dates N</a:t>
                      </a:r>
                    </a:p>
                  </a:txBody>
                  <a:tcPr marL="76200" marR="762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5875">
                      <a:solidFill>
                        <a:srgbClr val="5F193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400" b="1" dirty="0">
                          <a:solidFill>
                            <a:srgbClr val="5F1937"/>
                          </a:solidFill>
                          <a:latin typeface="Calibri"/>
                          <a:cs typeface="Calibri"/>
                        </a:rPr>
                        <a:t>Simulated std</a:t>
                      </a:r>
                    </a:p>
                  </a:txBody>
                  <a:tcPr marL="76200" marR="762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5875">
                      <a:solidFill>
                        <a:srgbClr val="5F193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400" b="1" dirty="0">
                          <a:solidFill>
                            <a:srgbClr val="5F1937"/>
                          </a:solidFill>
                          <a:latin typeface="Calibri"/>
                          <a:cs typeface="Calibri"/>
                        </a:rPr>
                        <a:t>6.77 / √N</a:t>
                      </a:r>
                    </a:p>
                  </a:txBody>
                  <a:tcPr marL="76200" marR="762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5875">
                      <a:solidFill>
                        <a:srgbClr val="5F1937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400" b="1" dirty="0">
                          <a:solidFill>
                            <a:srgbClr val="2B2B2B"/>
                          </a:solidFill>
                          <a:latin typeface="Calibri"/>
                          <a:cs typeface="Calibri"/>
                        </a:rPr>
                        <a:t>4</a:t>
                      </a:r>
                    </a:p>
                  </a:txBody>
                  <a:tcPr marL="76200" marR="76200" marT="25400" marB="25400" anchor="ctr">
                    <a:lnL w="0">
                      <a:noFill/>
                    </a:lnL>
                    <a:lnR w="0">
                      <a:noFill/>
                    </a:lnR>
                    <a:lnT w="15875" cap="flat" cmpd="sng" algn="ctr">
                      <a:solidFill>
                        <a:srgbClr val="5F1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400" dirty="0">
                          <a:solidFill>
                            <a:srgbClr val="2B2B2B"/>
                          </a:solidFill>
                          <a:latin typeface="Calibri"/>
                          <a:cs typeface="Calibri"/>
                        </a:rPr>
                        <a:t>3.22</a:t>
                      </a:r>
                    </a:p>
                  </a:txBody>
                  <a:tcPr marL="76200" marR="76200" marT="25400" marB="25400" anchor="ctr">
                    <a:lnL w="0">
                      <a:noFill/>
                    </a:lnL>
                    <a:lnR w="0">
                      <a:noFill/>
                    </a:lnR>
                    <a:lnT w="15875" cap="flat" cmpd="sng" algn="ctr">
                      <a:solidFill>
                        <a:srgbClr val="5F1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400" dirty="0">
                          <a:solidFill>
                            <a:srgbClr val="2B2B2B"/>
                          </a:solidFill>
                          <a:latin typeface="Calibri"/>
                          <a:cs typeface="Calibri"/>
                        </a:rPr>
                        <a:t>3.38</a:t>
                      </a:r>
                    </a:p>
                  </a:txBody>
                  <a:tcPr marL="76200" marR="76200" marT="25400" marB="25400" anchor="ctr">
                    <a:lnL w="0">
                      <a:noFill/>
                    </a:lnL>
                    <a:lnR w="0">
                      <a:noFill/>
                    </a:lnR>
                    <a:lnT w="15875" cap="flat" cmpd="sng" algn="ctr">
                      <a:solidFill>
                        <a:srgbClr val="5F1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400" b="1" dirty="0">
                          <a:solidFill>
                            <a:srgbClr val="2B2B2B"/>
                          </a:solidFill>
                          <a:latin typeface="Calibri"/>
                          <a:cs typeface="Calibri"/>
                        </a:rPr>
                        <a:t>12</a:t>
                      </a:r>
                    </a:p>
                  </a:txBody>
                  <a:tcPr marL="76200" marR="76200" marT="25400" marB="254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400" dirty="0">
                          <a:solidFill>
                            <a:srgbClr val="2B2B2B"/>
                          </a:solidFill>
                          <a:latin typeface="Calibri"/>
                          <a:cs typeface="Calibri"/>
                        </a:rPr>
                        <a:t>1.94</a:t>
                      </a:r>
                    </a:p>
                  </a:txBody>
                  <a:tcPr marL="76200" marR="76200" marT="25400" marB="254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400" dirty="0">
                          <a:solidFill>
                            <a:srgbClr val="2B2B2B"/>
                          </a:solidFill>
                          <a:latin typeface="Calibri"/>
                          <a:cs typeface="Calibri"/>
                        </a:rPr>
                        <a:t>1.95</a:t>
                      </a:r>
                    </a:p>
                  </a:txBody>
                  <a:tcPr marL="76200" marR="76200" marT="25400" marB="254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400" b="1" dirty="0">
                          <a:solidFill>
                            <a:srgbClr val="2B2B2B"/>
                          </a:solidFill>
                          <a:latin typeface="Calibri"/>
                          <a:cs typeface="Calibri"/>
                        </a:rPr>
                        <a:t>52</a:t>
                      </a:r>
                    </a:p>
                  </a:txBody>
                  <a:tcPr marL="76200" marR="76200" marT="25400" marB="254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400" dirty="0">
                          <a:solidFill>
                            <a:srgbClr val="2B2B2B"/>
                          </a:solidFill>
                          <a:latin typeface="Calibri"/>
                          <a:cs typeface="Calibri"/>
                        </a:rPr>
                        <a:t>0.95</a:t>
                      </a:r>
                    </a:p>
                  </a:txBody>
                  <a:tcPr marL="76200" marR="76200" marT="25400" marB="254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400" dirty="0">
                          <a:solidFill>
                            <a:srgbClr val="2B2B2B"/>
                          </a:solidFill>
                          <a:latin typeface="Calibri"/>
                          <a:cs typeface="Calibri"/>
                        </a:rPr>
                        <a:t>0.94</a:t>
                      </a:r>
                    </a:p>
                  </a:txBody>
                  <a:tcPr marL="76200" marR="76200" marT="25400" marB="254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400" b="1" dirty="0">
                          <a:solidFill>
                            <a:srgbClr val="2B2B2B"/>
                          </a:solidFill>
                          <a:latin typeface="Calibri"/>
                          <a:cs typeface="Calibri"/>
                        </a:rPr>
                        <a:t>252</a:t>
                      </a:r>
                    </a:p>
                  </a:txBody>
                  <a:tcPr marL="76200" marR="76200" marT="25400" marB="254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400" dirty="0">
                          <a:solidFill>
                            <a:srgbClr val="2B2B2B"/>
                          </a:solidFill>
                          <a:latin typeface="Calibri"/>
                          <a:cs typeface="Calibri"/>
                        </a:rPr>
                        <a:t>0.44</a:t>
                      </a:r>
                    </a:p>
                  </a:txBody>
                  <a:tcPr marL="76200" marR="76200" marT="25400" marB="254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400" dirty="0">
                          <a:solidFill>
                            <a:srgbClr val="2B2B2B"/>
                          </a:solidFill>
                          <a:latin typeface="Calibri"/>
                          <a:cs typeface="Calibri"/>
                        </a:rPr>
                        <a:t>0.43</a:t>
                      </a:r>
                    </a:p>
                  </a:txBody>
                  <a:tcPr marL="76200" marR="76200" marT="25400" marB="254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400" b="1" dirty="0">
                          <a:solidFill>
                            <a:srgbClr val="2B2B2B"/>
                          </a:solidFill>
                          <a:latin typeface="Calibri"/>
                          <a:cs typeface="Calibri"/>
                        </a:rPr>
                        <a:t>1,000</a:t>
                      </a:r>
                    </a:p>
                  </a:txBody>
                  <a:tcPr marL="76200" marR="76200" marT="25400" marB="254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400" dirty="0">
                          <a:solidFill>
                            <a:srgbClr val="2B2B2B"/>
                          </a:solidFill>
                          <a:latin typeface="Calibri"/>
                          <a:cs typeface="Calibri"/>
                        </a:rPr>
                        <a:t>0.22</a:t>
                      </a:r>
                    </a:p>
                  </a:txBody>
                  <a:tcPr marL="76200" marR="76200" marT="25400" marB="254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400" dirty="0">
                          <a:solidFill>
                            <a:srgbClr val="2B2B2B"/>
                          </a:solidFill>
                          <a:latin typeface="Calibri"/>
                          <a:cs typeface="Calibri"/>
                        </a:rPr>
                        <a:t>0.21</a:t>
                      </a:r>
                    </a:p>
                  </a:txBody>
                  <a:tcPr marL="76200" marR="76200" marT="25400" marB="254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3" name="Text 23"/>
          <p:cNvSpPr txBox="1"/>
          <p:nvPr/>
        </p:nvSpPr>
        <p:spPr>
          <a:xfrm>
            <a:off x="571500" y="4318000"/>
            <a:ext cx="5080000" cy="101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1300" dirty="0">
                <a:solidFill>
                  <a:srgbClr val="6B6B6B"/>
                </a:solidFill>
                <a:latin typeface="Calibri"/>
                <a:cs typeface="Calibri"/>
              </a:rPr>
              <a:t>Derman-Kamal (1999): std(ε) ≈ √(π/4) σ Vega / √N. The simulation matches to within 5%.</a:t>
            </a:r>
            <a:endParaRPr lang="en-GB" sz="1300" dirty="0"/>
          </a:p>
        </p:txBody>
      </p:sp>
      <p:sp>
        <p:nvSpPr>
          <p:cNvPr id="30" name="Text 30"/>
          <p:cNvSpPr txBox="1"/>
          <p:nvPr/>
        </p:nvSpPr>
        <p:spPr>
          <a:xfrm>
            <a:off x="6350000" y="1206500"/>
            <a:ext cx="5283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1600" b="1" dirty="0">
                <a:solidFill>
                  <a:srgbClr val="5F1937"/>
                </a:solidFill>
                <a:latin typeface="Calibri"/>
                <a:cs typeface="Calibri"/>
              </a:rPr>
              <a:t>B2  Why Δ = N(h</a:t>
            </a:r>
            <a:r>
              <a:rPr lang="en-GB" sz="1600" b="1" baseline="-25000" dirty="0">
                <a:solidFill>
                  <a:srgbClr val="5F1937"/>
                </a:solidFill>
                <a:latin typeface="Calibri"/>
                <a:cs typeface="Calibri"/>
              </a:rPr>
              <a:t>1</a:t>
            </a:r>
            <a:r>
              <a:rPr lang="en-GB" sz="1600" b="1" dirty="0">
                <a:solidFill>
                  <a:srgbClr val="5F1937"/>
                </a:solidFill>
                <a:latin typeface="Calibri"/>
                <a:cs typeface="Calibri"/>
              </a:rPr>
              <a:t>)</a:t>
            </a:r>
            <a:endParaRPr lang="en-GB" sz="1600" dirty="0"/>
          </a:p>
        </p:txBody>
      </p:sp>
      <p:cxnSp>
        <p:nvCxnSpPr>
          <p:cNvPr id="31" name="Line 31"/>
          <p:cNvCxnSpPr/>
          <p:nvPr/>
        </p:nvCxnSpPr>
        <p:spPr>
          <a:xfrm>
            <a:off x="6350000" y="1562100"/>
            <a:ext cx="5283200" cy="0"/>
          </a:xfrm>
          <a:prstGeom prst="line">
            <a:avLst/>
          </a:prstGeom>
          <a:ln w="19050">
            <a:solidFill>
              <a:srgbClr val="32B496"/>
            </a:solidFill>
          </a:ln>
        </p:spPr>
      </p:cxnSp>
      <p:sp>
        <p:nvSpPr>
          <p:cNvPr id="32" name="Text 32"/>
          <p:cNvSpPr txBox="1"/>
          <p:nvPr/>
        </p:nvSpPr>
        <p:spPr>
          <a:xfrm>
            <a:off x="6350000" y="1714500"/>
            <a:ext cx="528320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1400" b="1" dirty="0">
                <a:solidFill>
                  <a:srgbClr val="2B2B2B"/>
                </a:solidFill>
                <a:latin typeface="Calibri"/>
                <a:cs typeface="Calibri"/>
              </a:rPr>
              <a:t>Proof:</a:t>
            </a:r>
            <a:endParaRPr lang="en-GB" sz="1400" dirty="0"/>
          </a:p>
          <a:p>
            <a:pPr marL="254000" indent="-254000">
              <a:lnSpc>
                <a:spcPct val="100000"/>
              </a:lnSpc>
              <a:spcBef>
                <a:spcPts val="600"/>
              </a:spcBef>
              <a:buClr>
                <a:srgbClr val="5F1937"/>
              </a:buClr>
              <a:buFont typeface="Calibri"/>
              <a:buAutoNum type="arabicPeriod"/>
            </a:pPr>
            <a:r>
              <a:rPr lang="en-GB" sz="1400" dirty="0">
                <a:solidFill>
                  <a:srgbClr val="2B2B2B"/>
                </a:solidFill>
                <a:latin typeface="Calibri"/>
                <a:cs typeface="Calibri"/>
              </a:rPr>
              <a:t>∂C/∂S = N(h</a:t>
            </a:r>
            <a:r>
              <a:rPr lang="en-GB" sz="1400" baseline="-25000" dirty="0">
                <a:solidFill>
                  <a:srgbClr val="2B2B2B"/>
                </a:solidFill>
                <a:latin typeface="Calibri"/>
                <a:cs typeface="Calibri"/>
              </a:rPr>
              <a:t>1</a:t>
            </a:r>
            <a:r>
              <a:rPr lang="en-GB" sz="1400" dirty="0">
                <a:solidFill>
                  <a:srgbClr val="2B2B2B"/>
                </a:solidFill>
                <a:latin typeface="Calibri"/>
                <a:cs typeface="Calibri"/>
              </a:rPr>
              <a:t>) + Sφ(h</a:t>
            </a:r>
            <a:r>
              <a:rPr lang="en-GB" sz="1400" baseline="-25000" dirty="0">
                <a:solidFill>
                  <a:srgbClr val="2B2B2B"/>
                </a:solidFill>
                <a:latin typeface="Calibri"/>
                <a:cs typeface="Calibri"/>
              </a:rPr>
              <a:t>1</a:t>
            </a:r>
            <a:r>
              <a:rPr lang="en-GB" sz="1400" dirty="0">
                <a:solidFill>
                  <a:srgbClr val="2B2B2B"/>
                </a:solidFill>
                <a:latin typeface="Calibri"/>
                <a:cs typeface="Calibri"/>
              </a:rPr>
              <a:t>) ∂h</a:t>
            </a:r>
            <a:r>
              <a:rPr lang="en-GB" sz="1400" baseline="-25000" dirty="0">
                <a:solidFill>
                  <a:srgbClr val="2B2B2B"/>
                </a:solidFill>
                <a:latin typeface="Calibri"/>
                <a:cs typeface="Calibri"/>
              </a:rPr>
              <a:t>1</a:t>
            </a:r>
            <a:r>
              <a:rPr lang="en-GB" sz="1400" dirty="0">
                <a:solidFill>
                  <a:srgbClr val="2B2B2B"/>
                </a:solidFill>
                <a:latin typeface="Calibri"/>
                <a:cs typeface="Calibri"/>
              </a:rPr>
              <a:t>/∂S − Ke</a:t>
            </a:r>
            <a:r>
              <a:rPr lang="en-GB" sz="1400" baseline="30000" dirty="0">
                <a:solidFill>
                  <a:srgbClr val="2B2B2B"/>
                </a:solidFill>
                <a:latin typeface="Calibri"/>
                <a:cs typeface="Calibri"/>
              </a:rPr>
              <a:t>−rT</a:t>
            </a:r>
            <a:r>
              <a:rPr lang="en-GB" sz="1400" dirty="0">
                <a:solidFill>
                  <a:srgbClr val="2B2B2B"/>
                </a:solidFill>
                <a:latin typeface="Calibri"/>
                <a:cs typeface="Calibri"/>
              </a:rPr>
              <a:t>φ(h</a:t>
            </a:r>
            <a:r>
              <a:rPr lang="en-GB" sz="1400" baseline="-25000" dirty="0">
                <a:solidFill>
                  <a:srgbClr val="2B2B2B"/>
                </a:solidFill>
                <a:latin typeface="Calibri"/>
                <a:cs typeface="Calibri"/>
              </a:rPr>
              <a:t>2</a:t>
            </a:r>
            <a:r>
              <a:rPr lang="en-GB" sz="1400" dirty="0">
                <a:solidFill>
                  <a:srgbClr val="2B2B2B"/>
                </a:solidFill>
                <a:latin typeface="Calibri"/>
                <a:cs typeface="Calibri"/>
              </a:rPr>
              <a:t>) ∂h</a:t>
            </a:r>
            <a:r>
              <a:rPr lang="en-GB" sz="1400" baseline="-25000" dirty="0">
                <a:solidFill>
                  <a:srgbClr val="2B2B2B"/>
                </a:solidFill>
                <a:latin typeface="Calibri"/>
                <a:cs typeface="Calibri"/>
              </a:rPr>
              <a:t>2</a:t>
            </a:r>
            <a:r>
              <a:rPr lang="en-GB" sz="1400" dirty="0">
                <a:solidFill>
                  <a:srgbClr val="2B2B2B"/>
                </a:solidFill>
                <a:latin typeface="Calibri"/>
                <a:cs typeface="Calibri"/>
              </a:rPr>
              <a:t>/∂S</a:t>
            </a:r>
            <a:endParaRPr lang="en-GB" sz="1400" dirty="0"/>
          </a:p>
          <a:p>
            <a:pPr marL="254000" indent="-254000">
              <a:lnSpc>
                <a:spcPct val="100000"/>
              </a:lnSpc>
              <a:spcBef>
                <a:spcPts val="600"/>
              </a:spcBef>
              <a:buClr>
                <a:srgbClr val="5F1937"/>
              </a:buClr>
              <a:buFont typeface="Calibri"/>
              <a:buAutoNum type="arabicPeriod"/>
            </a:pPr>
            <a:r>
              <a:rPr lang="en-GB" sz="1400" dirty="0">
                <a:solidFill>
                  <a:srgbClr val="2B2B2B"/>
                </a:solidFill>
                <a:latin typeface="Calibri"/>
                <a:cs typeface="Calibri"/>
              </a:rPr>
              <a:t>h</a:t>
            </a:r>
            <a:r>
              <a:rPr lang="en-GB" sz="1400" baseline="-25000" dirty="0">
                <a:solidFill>
                  <a:srgbClr val="2B2B2B"/>
                </a:solidFill>
                <a:latin typeface="Calibri"/>
                <a:cs typeface="Calibri"/>
              </a:rPr>
              <a:t>2</a:t>
            </a:r>
            <a:r>
              <a:rPr lang="en-GB" sz="1400" dirty="0">
                <a:solidFill>
                  <a:srgbClr val="2B2B2B"/>
                </a:solidFill>
                <a:latin typeface="Calibri"/>
                <a:cs typeface="Calibri"/>
              </a:rPr>
              <a:t> = h</a:t>
            </a:r>
            <a:r>
              <a:rPr lang="en-GB" sz="1400" baseline="-25000" dirty="0">
                <a:solidFill>
                  <a:srgbClr val="2B2B2B"/>
                </a:solidFill>
                <a:latin typeface="Calibri"/>
                <a:cs typeface="Calibri"/>
              </a:rPr>
              <a:t>1</a:t>
            </a:r>
            <a:r>
              <a:rPr lang="en-GB" sz="1400" dirty="0">
                <a:solidFill>
                  <a:srgbClr val="2B2B2B"/>
                </a:solidFill>
                <a:latin typeface="Calibri"/>
                <a:cs typeface="Calibri"/>
              </a:rPr>
              <a:t> − σ√T, so ∂h</a:t>
            </a:r>
            <a:r>
              <a:rPr lang="en-GB" sz="1400" baseline="-25000" dirty="0">
                <a:solidFill>
                  <a:srgbClr val="2B2B2B"/>
                </a:solidFill>
                <a:latin typeface="Calibri"/>
                <a:cs typeface="Calibri"/>
              </a:rPr>
              <a:t>1</a:t>
            </a:r>
            <a:r>
              <a:rPr lang="en-GB" sz="1400" dirty="0">
                <a:solidFill>
                  <a:srgbClr val="2B2B2B"/>
                </a:solidFill>
                <a:latin typeface="Calibri"/>
                <a:cs typeface="Calibri"/>
              </a:rPr>
              <a:t>/∂S = ∂h</a:t>
            </a:r>
            <a:r>
              <a:rPr lang="en-GB" sz="1400" baseline="-25000" dirty="0">
                <a:solidFill>
                  <a:srgbClr val="2B2B2B"/>
                </a:solidFill>
                <a:latin typeface="Calibri"/>
                <a:cs typeface="Calibri"/>
              </a:rPr>
              <a:t>2</a:t>
            </a:r>
            <a:r>
              <a:rPr lang="en-GB" sz="1400" dirty="0">
                <a:solidFill>
                  <a:srgbClr val="2B2B2B"/>
                </a:solidFill>
                <a:latin typeface="Calibri"/>
                <a:cs typeface="Calibri"/>
              </a:rPr>
              <a:t>/∂S</a:t>
            </a:r>
            <a:endParaRPr lang="en-GB" sz="1400" dirty="0"/>
          </a:p>
          <a:p>
            <a:pPr marL="254000" indent="-254000">
              <a:lnSpc>
                <a:spcPct val="100000"/>
              </a:lnSpc>
              <a:spcBef>
                <a:spcPts val="600"/>
              </a:spcBef>
              <a:buClr>
                <a:srgbClr val="5F1937"/>
              </a:buClr>
              <a:buFont typeface="Calibri"/>
              <a:buAutoNum type="arabicPeriod"/>
            </a:pPr>
            <a:r>
              <a:rPr lang="en-GB" sz="1400" dirty="0">
                <a:solidFill>
                  <a:srgbClr val="2B2B2B"/>
                </a:solidFill>
                <a:latin typeface="Calibri"/>
                <a:cs typeface="Calibri"/>
              </a:rPr>
              <a:t>φ(h</a:t>
            </a:r>
            <a:r>
              <a:rPr lang="en-GB" sz="1400" baseline="-25000" dirty="0">
                <a:solidFill>
                  <a:srgbClr val="2B2B2B"/>
                </a:solidFill>
                <a:latin typeface="Calibri"/>
                <a:cs typeface="Calibri"/>
              </a:rPr>
              <a:t>2</a:t>
            </a:r>
            <a:r>
              <a:rPr lang="en-GB" sz="1400" dirty="0">
                <a:solidFill>
                  <a:srgbClr val="2B2B2B"/>
                </a:solidFill>
                <a:latin typeface="Calibri"/>
                <a:cs typeface="Calibri"/>
              </a:rPr>
              <a:t>) / φ(h</a:t>
            </a:r>
            <a:r>
              <a:rPr lang="en-GB" sz="1400" baseline="-25000" dirty="0">
                <a:solidFill>
                  <a:srgbClr val="2B2B2B"/>
                </a:solidFill>
                <a:latin typeface="Calibri"/>
                <a:cs typeface="Calibri"/>
              </a:rPr>
              <a:t>1</a:t>
            </a:r>
            <a:r>
              <a:rPr lang="en-GB" sz="1400" dirty="0">
                <a:solidFill>
                  <a:srgbClr val="2B2B2B"/>
                </a:solidFill>
                <a:latin typeface="Calibri"/>
                <a:cs typeface="Calibri"/>
              </a:rPr>
              <a:t>) = exp((h</a:t>
            </a:r>
            <a:r>
              <a:rPr lang="en-GB" sz="1400" baseline="-25000" dirty="0">
                <a:solidFill>
                  <a:srgbClr val="2B2B2B"/>
                </a:solidFill>
                <a:latin typeface="Calibri"/>
                <a:cs typeface="Calibri"/>
              </a:rPr>
              <a:t>1</a:t>
            </a:r>
            <a:r>
              <a:rPr lang="en-GB" sz="1400" baseline="30000" dirty="0">
                <a:solidFill>
                  <a:srgbClr val="2B2B2B"/>
                </a:solidFill>
                <a:latin typeface="Calibri"/>
                <a:cs typeface="Calibri"/>
              </a:rPr>
              <a:t>2</a:t>
            </a:r>
            <a:r>
              <a:rPr lang="en-GB" sz="1400" dirty="0">
                <a:solidFill>
                  <a:srgbClr val="2B2B2B"/>
                </a:solidFill>
                <a:latin typeface="Calibri"/>
                <a:cs typeface="Calibri"/>
              </a:rPr>
              <a:t> − h</a:t>
            </a:r>
            <a:r>
              <a:rPr lang="en-GB" sz="1400" baseline="-25000" dirty="0">
                <a:solidFill>
                  <a:srgbClr val="2B2B2B"/>
                </a:solidFill>
                <a:latin typeface="Calibri"/>
                <a:cs typeface="Calibri"/>
              </a:rPr>
              <a:t>2</a:t>
            </a:r>
            <a:r>
              <a:rPr lang="en-GB" sz="1400" baseline="30000" dirty="0">
                <a:solidFill>
                  <a:srgbClr val="2B2B2B"/>
                </a:solidFill>
                <a:latin typeface="Calibri"/>
                <a:cs typeface="Calibri"/>
              </a:rPr>
              <a:t>2</a:t>
            </a:r>
            <a:r>
              <a:rPr lang="en-GB" sz="1400" dirty="0">
                <a:solidFill>
                  <a:srgbClr val="2B2B2B"/>
                </a:solidFill>
                <a:latin typeface="Calibri"/>
                <a:cs typeface="Calibri"/>
              </a:rPr>
              <a:t>) / 2) = Se</a:t>
            </a:r>
            <a:r>
              <a:rPr lang="en-GB" sz="1400" baseline="30000" dirty="0">
                <a:solidFill>
                  <a:srgbClr val="2B2B2B"/>
                </a:solidFill>
                <a:latin typeface="Calibri"/>
                <a:cs typeface="Calibri"/>
              </a:rPr>
              <a:t>rT</a:t>
            </a:r>
            <a:r>
              <a:rPr lang="en-GB" sz="1400" dirty="0">
                <a:solidFill>
                  <a:srgbClr val="2B2B2B"/>
                </a:solidFill>
                <a:latin typeface="Calibri"/>
                <a:cs typeface="Calibri"/>
              </a:rPr>
              <a:t> / K</a:t>
            </a:r>
            <a:endParaRPr lang="en-GB" sz="1400" dirty="0"/>
          </a:p>
          <a:p>
            <a:pPr marL="254000" indent="-254000">
              <a:lnSpc>
                <a:spcPct val="100000"/>
              </a:lnSpc>
              <a:spcBef>
                <a:spcPts val="600"/>
              </a:spcBef>
              <a:buClr>
                <a:srgbClr val="5F1937"/>
              </a:buClr>
              <a:buFont typeface="Calibri"/>
              <a:buAutoNum type="arabicPeriod"/>
            </a:pPr>
            <a:r>
              <a:rPr lang="en-GB" sz="1400" dirty="0">
                <a:solidFill>
                  <a:srgbClr val="2B2B2B"/>
                </a:solidFill>
                <a:latin typeface="Calibri"/>
                <a:cs typeface="Calibri"/>
              </a:rPr>
              <a:t>So Sφ(h</a:t>
            </a:r>
            <a:r>
              <a:rPr lang="en-GB" sz="1400" baseline="-25000" dirty="0">
                <a:solidFill>
                  <a:srgbClr val="2B2B2B"/>
                </a:solidFill>
                <a:latin typeface="Calibri"/>
                <a:cs typeface="Calibri"/>
              </a:rPr>
              <a:t>1</a:t>
            </a:r>
            <a:r>
              <a:rPr lang="en-GB" sz="1400" dirty="0">
                <a:solidFill>
                  <a:srgbClr val="2B2B2B"/>
                </a:solidFill>
                <a:latin typeface="Calibri"/>
                <a:cs typeface="Calibri"/>
              </a:rPr>
              <a:t>) = Ke</a:t>
            </a:r>
            <a:r>
              <a:rPr lang="en-GB" sz="1400" baseline="30000" dirty="0">
                <a:solidFill>
                  <a:srgbClr val="2B2B2B"/>
                </a:solidFill>
                <a:latin typeface="Calibri"/>
                <a:cs typeface="Calibri"/>
              </a:rPr>
              <a:t>−rT</a:t>
            </a:r>
            <a:r>
              <a:rPr lang="en-GB" sz="1400" dirty="0">
                <a:solidFill>
                  <a:srgbClr val="2B2B2B"/>
                </a:solidFill>
                <a:latin typeface="Calibri"/>
                <a:cs typeface="Calibri"/>
              </a:rPr>
              <a:t>φ(h</a:t>
            </a:r>
            <a:r>
              <a:rPr lang="en-GB" sz="1400" baseline="-25000" dirty="0">
                <a:solidFill>
                  <a:srgbClr val="2B2B2B"/>
                </a:solidFill>
                <a:latin typeface="Calibri"/>
                <a:cs typeface="Calibri"/>
              </a:rPr>
              <a:t>2</a:t>
            </a:r>
            <a:r>
              <a:rPr lang="en-GB" sz="1400" dirty="0">
                <a:solidFill>
                  <a:srgbClr val="2B2B2B"/>
                </a:solidFill>
                <a:latin typeface="Calibri"/>
                <a:cs typeface="Calibri"/>
              </a:rPr>
              <a:t>): the extra terms mercifully cancel, and Δ = N(h</a:t>
            </a:r>
            <a:r>
              <a:rPr lang="en-GB" sz="1400" baseline="-25000" dirty="0">
                <a:solidFill>
                  <a:srgbClr val="2B2B2B"/>
                </a:solidFill>
                <a:latin typeface="Calibri"/>
                <a:cs typeface="Calibri"/>
              </a:rPr>
              <a:t>1</a:t>
            </a:r>
            <a:r>
              <a:rPr lang="en-GB" sz="1400" dirty="0">
                <a:solidFill>
                  <a:srgbClr val="2B2B2B"/>
                </a:solidFill>
                <a:latin typeface="Calibri"/>
                <a:cs typeface="Calibri"/>
              </a:rPr>
              <a:t>).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26376382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38912"/>
            <a:ext cx="420624" cy="420624"/>
          </a:xfrm>
          <a:prstGeom prst="rect">
            <a:avLst/>
          </a:prstGeom>
          <a:solidFill>
            <a:srgbClr val="32B496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Text 1"/>
          <p:cNvSpPr txBox="1"/>
          <p:nvPr/>
        </p:nvSpPr>
        <p:spPr>
          <a:xfrm>
            <a:off x="566928" y="4389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GB" sz="1600" b="1" dirty="0">
                <a:solidFill>
                  <a:srgbClr val="FFFFFF"/>
                </a:solidFill>
                <a:latin typeface="Calibri"/>
                <a:cs typeface="Calibri"/>
              </a:rPr>
              <a:t>B</a:t>
            </a:r>
          </a:p>
        </p:txBody>
      </p:sp>
      <p:sp>
        <p:nvSpPr>
          <p:cNvPr id="4" name="Text 2"/>
          <p:cNvSpPr txBox="1"/>
          <p:nvPr/>
        </p:nvSpPr>
        <p:spPr>
          <a:xfrm>
            <a:off x="1188720" y="384048"/>
            <a:ext cx="1043604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2800" b="1" dirty="0">
                <a:solidFill>
                  <a:srgbClr val="5F1937"/>
                </a:solidFill>
                <a:latin typeface="Calibri"/>
                <a:cs typeface="Calibri"/>
              </a:rPr>
              <a:t>Appendix</a:t>
            </a:r>
            <a:r>
              <a:rPr lang="en-GB" sz="2000" dirty="0">
                <a:solidFill>
                  <a:srgbClr val="6B6B6B"/>
                </a:solidFill>
                <a:latin typeface="Calibri"/>
                <a:cs typeface="Calibri"/>
              </a:rPr>
              <a:t>   numerical details</a:t>
            </a:r>
          </a:p>
        </p:txBody>
      </p:sp>
      <p:sp>
        <p:nvSpPr>
          <p:cNvPr id="14" name="Text 12"/>
          <p:cNvSpPr txBox="1"/>
          <p:nvPr/>
        </p:nvSpPr>
        <p:spPr>
          <a:xfrm>
            <a:off x="566928" y="643737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EDHEC Business School  |  FIN 6999 Financial Derivatives  |  Mid-term project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1076127" y="6437376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GB" sz="1000" b="1" dirty="0">
                <a:solidFill>
                  <a:srgbClr val="5F1937"/>
                </a:solidFill>
                <a:latin typeface="Calibri"/>
                <a:cs typeface="Calibri"/>
              </a:rPr>
              <a:t>15</a:t>
            </a:r>
          </a:p>
        </p:txBody>
      </p:sp>
      <p:sp>
        <p:nvSpPr>
          <p:cNvPr id="23" name="Text 23"/>
          <p:cNvSpPr txBox="1"/>
          <p:nvPr/>
        </p:nvSpPr>
        <p:spPr>
          <a:xfrm>
            <a:off x="571500" y="1206500"/>
            <a:ext cx="5207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1600" b="1" dirty="0">
                <a:solidFill>
                  <a:srgbClr val="5F1937"/>
                </a:solidFill>
                <a:latin typeface="Calibri"/>
                <a:cs typeface="Calibri"/>
              </a:rPr>
              <a:t>B3  Monte Carlo standard error</a:t>
            </a:r>
            <a:endParaRPr lang="en-GB" sz="1600" dirty="0"/>
          </a:p>
        </p:txBody>
      </p:sp>
      <p:cxnSp>
        <p:nvCxnSpPr>
          <p:cNvPr id="24" name="Line 24"/>
          <p:cNvCxnSpPr/>
          <p:nvPr/>
        </p:nvCxnSpPr>
        <p:spPr>
          <a:xfrm>
            <a:off x="571500" y="1562100"/>
            <a:ext cx="5207000" cy="0"/>
          </a:xfrm>
          <a:prstGeom prst="line">
            <a:avLst/>
          </a:prstGeom>
          <a:ln w="19050">
            <a:solidFill>
              <a:srgbClr val="32B496"/>
            </a:solidFill>
          </a:ln>
        </p:spPr>
      </p:cxnSp>
      <p:sp>
        <p:nvSpPr>
          <p:cNvPr id="25" name="Text 25"/>
          <p:cNvSpPr txBox="1"/>
          <p:nvPr/>
        </p:nvSpPr>
        <p:spPr>
          <a:xfrm>
            <a:off x="571500" y="1714500"/>
            <a:ext cx="5207000" cy="406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1400" dirty="0">
                <a:solidFill>
                  <a:srgbClr val="2B2B2B"/>
                </a:solidFill>
                <a:latin typeface="Calibri"/>
                <a:cs typeface="Calibri"/>
              </a:rPr>
              <a:t>The estimator is a mean of M i.i.d. discounted payoffs X</a:t>
            </a:r>
            <a:r>
              <a:rPr lang="en-GB" sz="1400" baseline="-25000" dirty="0">
                <a:solidFill>
                  <a:srgbClr val="2B2B2B"/>
                </a:solidFill>
                <a:latin typeface="Calibri"/>
                <a:cs typeface="Calibri"/>
              </a:rPr>
              <a:t>i</a:t>
            </a:r>
            <a:r>
              <a:rPr lang="en-GB" sz="1400" dirty="0">
                <a:solidFill>
                  <a:srgbClr val="2B2B2B"/>
                </a:solidFill>
                <a:latin typeface="Calibri"/>
                <a:cs typeface="Calibri"/>
              </a:rPr>
              <a:t>:</a:t>
            </a:r>
            <a:endParaRPr lang="en-GB" sz="1400" dirty="0"/>
          </a:p>
          <a:p>
            <a:pPr marL="203200" indent="-203200">
              <a:lnSpc>
                <a:spcPct val="100000"/>
              </a:lnSpc>
              <a:spcBef>
                <a:spcPts val="600"/>
              </a:spcBef>
              <a:buClr>
                <a:srgbClr val="32B496"/>
              </a:buClr>
              <a:buSzPct val="75000"/>
              <a:buFont typeface="Arial"/>
              <a:buChar char="►"/>
            </a:pPr>
            <a:r>
              <a:rPr lang="en-GB" sz="1400" dirty="0">
                <a:solidFill>
                  <a:srgbClr val="2B2B2B"/>
                </a:solidFill>
                <a:latin typeface="Calibri"/>
                <a:cs typeface="Calibri"/>
              </a:rPr>
              <a:t>Var(mean) = s</a:t>
            </a:r>
            <a:r>
              <a:rPr lang="en-GB" sz="1400" baseline="30000" dirty="0">
                <a:solidFill>
                  <a:srgbClr val="2B2B2B"/>
                </a:solidFill>
                <a:latin typeface="Calibri"/>
                <a:cs typeface="Calibri"/>
              </a:rPr>
              <a:t>2</a:t>
            </a:r>
            <a:r>
              <a:rPr lang="en-GB" sz="1400" dirty="0">
                <a:solidFill>
                  <a:srgbClr val="2B2B2B"/>
                </a:solidFill>
                <a:latin typeface="Calibri"/>
                <a:cs typeface="Calibri"/>
              </a:rPr>
              <a:t>/M, with s ≈ 14, so SE = s/√M.</a:t>
            </a:r>
            <a:endParaRPr lang="en-GB" sz="1400" dirty="0"/>
          </a:p>
          <a:p>
            <a:pPr marL="203200" indent="-203200">
              <a:lnSpc>
                <a:spcPct val="100000"/>
              </a:lnSpc>
              <a:spcBef>
                <a:spcPts val="600"/>
              </a:spcBef>
              <a:buClr>
                <a:srgbClr val="32B496"/>
              </a:buClr>
              <a:buSzPct val="75000"/>
              <a:buFont typeface="Arial"/>
              <a:buChar char="►"/>
            </a:pPr>
            <a:r>
              <a:rPr lang="en-GB" sz="1400" dirty="0">
                <a:solidFill>
                  <a:srgbClr val="2B2B2B"/>
                </a:solidFill>
                <a:latin typeface="Calibri"/>
                <a:cs typeface="Calibri"/>
              </a:rPr>
              <a:t>CLT: 95% CI = Ĉ ± 1.96 SE.</a:t>
            </a:r>
            <a:endParaRPr lang="en-GB" sz="1400" dirty="0"/>
          </a:p>
          <a:p>
            <a:pPr marL="203200" indent="-203200">
              <a:lnSpc>
                <a:spcPct val="100000"/>
              </a:lnSpc>
              <a:spcBef>
                <a:spcPts val="600"/>
              </a:spcBef>
              <a:buClr>
                <a:srgbClr val="32B496"/>
              </a:buClr>
              <a:buSzPct val="75000"/>
              <a:buFont typeface="Arial"/>
              <a:buChar char="►"/>
            </a:pPr>
            <a:r>
              <a:rPr lang="en-GB" sz="1400" dirty="0">
                <a:solidFill>
                  <a:srgbClr val="2B2B2B"/>
                </a:solidFill>
                <a:latin typeface="Calibri"/>
                <a:cs typeface="Calibri"/>
              </a:rPr>
              <a:t>Halving the error needs 4× the paths.</a:t>
            </a:r>
            <a:endParaRPr lang="en-GB" sz="1400" dirty="0"/>
          </a:p>
          <a:p>
            <a:pPr marL="203200" indent="-203200">
              <a:lnSpc>
                <a:spcPct val="100000"/>
              </a:lnSpc>
              <a:spcBef>
                <a:spcPts val="600"/>
              </a:spcBef>
              <a:buClr>
                <a:srgbClr val="32B496"/>
              </a:buClr>
              <a:buSzPct val="75000"/>
              <a:buFont typeface="Arial"/>
              <a:buChar char="►"/>
            </a:pPr>
            <a:r>
              <a:rPr lang="en-GB" sz="1400" dirty="0">
                <a:solidFill>
                  <a:srgbClr val="2B2B2B"/>
                </a:solidFill>
                <a:latin typeface="Calibri"/>
                <a:cs typeface="Calibri"/>
              </a:rPr>
              <a:t>S</a:t>
            </a:r>
            <a:r>
              <a:rPr lang="en-GB" sz="1400" baseline="-25000" dirty="0">
                <a:solidFill>
                  <a:srgbClr val="2B2B2B"/>
                </a:solidFill>
                <a:latin typeface="Calibri"/>
                <a:cs typeface="Calibri"/>
              </a:rPr>
              <a:t>T</a:t>
            </a:r>
            <a:r>
              <a:rPr lang="en-GB" sz="1400" dirty="0">
                <a:solidFill>
                  <a:srgbClr val="2B2B2B"/>
                </a:solidFill>
                <a:latin typeface="Calibri"/>
                <a:cs typeface="Calibri"/>
              </a:rPr>
              <a:t> is sampled exactly from the lognormal, so there is no time-discretisation bias.</a:t>
            </a:r>
            <a:endParaRPr lang="en-GB" sz="1400" dirty="0"/>
          </a:p>
        </p:txBody>
      </p:sp>
      <p:sp>
        <p:nvSpPr>
          <p:cNvPr id="26" name="Text 26"/>
          <p:cNvSpPr txBox="1"/>
          <p:nvPr/>
        </p:nvSpPr>
        <p:spPr>
          <a:xfrm>
            <a:off x="6426200" y="1206500"/>
            <a:ext cx="5207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1600" b="1" dirty="0">
                <a:solidFill>
                  <a:srgbClr val="5F1937"/>
                </a:solidFill>
                <a:latin typeface="Calibri"/>
                <a:cs typeface="Calibri"/>
              </a:rPr>
              <a:t>B4  CRR tree</a:t>
            </a:r>
            <a:endParaRPr lang="en-GB" sz="1600" dirty="0"/>
          </a:p>
        </p:txBody>
      </p:sp>
      <p:cxnSp>
        <p:nvCxnSpPr>
          <p:cNvPr id="27" name="Line 27"/>
          <p:cNvCxnSpPr/>
          <p:nvPr/>
        </p:nvCxnSpPr>
        <p:spPr>
          <a:xfrm>
            <a:off x="6426200" y="1562100"/>
            <a:ext cx="5207000" cy="0"/>
          </a:xfrm>
          <a:prstGeom prst="line">
            <a:avLst/>
          </a:prstGeom>
          <a:ln w="19050">
            <a:solidFill>
              <a:srgbClr val="32B496"/>
            </a:solidFill>
          </a:ln>
        </p:spPr>
      </p:cxnSp>
      <p:sp>
        <p:nvSpPr>
          <p:cNvPr id="28" name="Text 28"/>
          <p:cNvSpPr txBox="1"/>
          <p:nvPr/>
        </p:nvSpPr>
        <p:spPr>
          <a:xfrm>
            <a:off x="6426200" y="1714500"/>
            <a:ext cx="5207000" cy="406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1400" dirty="0">
                <a:solidFill>
                  <a:srgbClr val="2B2B2B"/>
                </a:solidFill>
                <a:latin typeface="Calibri"/>
                <a:cs typeface="Calibri"/>
              </a:rPr>
              <a:t>u = e</a:t>
            </a:r>
            <a:r>
              <a:rPr lang="en-GB" sz="1400" baseline="30000" dirty="0">
                <a:solidFill>
                  <a:srgbClr val="2B2B2B"/>
                </a:solidFill>
                <a:latin typeface="Calibri"/>
                <a:cs typeface="Calibri"/>
              </a:rPr>
              <a:t>σ√Δt</a:t>
            </a:r>
            <a:r>
              <a:rPr lang="en-GB" sz="1400" dirty="0">
                <a:solidFill>
                  <a:srgbClr val="2B2B2B"/>
                </a:solidFill>
                <a:latin typeface="Calibri"/>
                <a:cs typeface="Calibri"/>
              </a:rPr>
              <a:t>,  d = 1/u,  p = (e</a:t>
            </a:r>
            <a:r>
              <a:rPr lang="en-GB" sz="1400" baseline="30000" dirty="0">
                <a:solidFill>
                  <a:srgbClr val="2B2B2B"/>
                </a:solidFill>
                <a:latin typeface="Calibri"/>
                <a:cs typeface="Calibri"/>
              </a:rPr>
              <a:t>rΔt</a:t>
            </a:r>
            <a:r>
              <a:rPr lang="en-GB" sz="1400" dirty="0">
                <a:solidFill>
                  <a:srgbClr val="2B2B2B"/>
                </a:solidFill>
                <a:latin typeface="Calibri"/>
                <a:cs typeface="Calibri"/>
              </a:rPr>
              <a:t> − d) / (u − d)</a:t>
            </a:r>
            <a:endParaRPr lang="en-GB" sz="1400" dirty="0"/>
          </a:p>
          <a:p>
            <a:pPr marL="203200" indent="-203200">
              <a:lnSpc>
                <a:spcPct val="100000"/>
              </a:lnSpc>
              <a:spcBef>
                <a:spcPts val="600"/>
              </a:spcBef>
              <a:buClr>
                <a:srgbClr val="32B496"/>
              </a:buClr>
              <a:buSzPct val="75000"/>
              <a:buFont typeface="Arial"/>
              <a:buChar char="►"/>
            </a:pPr>
            <a:r>
              <a:rPr lang="en-GB" sz="1400" dirty="0">
                <a:solidFill>
                  <a:srgbClr val="2B2B2B"/>
                </a:solidFill>
                <a:latin typeface="Calibri"/>
                <a:cs typeface="Calibri"/>
              </a:rPr>
              <a:t>These match the mean and variance of the GBM over each step.</a:t>
            </a:r>
            <a:endParaRPr lang="en-GB" sz="1400" dirty="0"/>
          </a:p>
          <a:p>
            <a:pPr marL="203200" indent="-203200">
              <a:lnSpc>
                <a:spcPct val="100000"/>
              </a:lnSpc>
              <a:spcBef>
                <a:spcPts val="600"/>
              </a:spcBef>
              <a:buClr>
                <a:srgbClr val="32B496"/>
              </a:buClr>
              <a:buSzPct val="75000"/>
              <a:buFont typeface="Arial"/>
              <a:buChar char="►"/>
            </a:pPr>
            <a:r>
              <a:rPr lang="en-GB" sz="1400" dirty="0">
                <a:solidFill>
                  <a:srgbClr val="2B2B2B"/>
                </a:solidFill>
                <a:latin typeface="Calibri"/>
                <a:cs typeface="Calibri"/>
              </a:rPr>
              <a:t>By the CLT, the binomial log S</a:t>
            </a:r>
            <a:r>
              <a:rPr lang="en-GB" sz="1400" baseline="-25000" dirty="0">
                <a:solidFill>
                  <a:srgbClr val="2B2B2B"/>
                </a:solidFill>
                <a:latin typeface="Calibri"/>
                <a:cs typeface="Calibri"/>
              </a:rPr>
              <a:t>T</a:t>
            </a:r>
            <a:r>
              <a:rPr lang="en-GB" sz="1400" dirty="0">
                <a:solidFill>
                  <a:srgbClr val="2B2B2B"/>
                </a:solidFill>
                <a:latin typeface="Calibri"/>
                <a:cs typeface="Calibri"/>
              </a:rPr>
              <a:t> tends to a Gaussian: error O(1/N).</a:t>
            </a:r>
            <a:endParaRPr lang="en-GB" sz="1400" dirty="0"/>
          </a:p>
          <a:p>
            <a:pPr marL="203200" indent="-203200">
              <a:lnSpc>
                <a:spcPct val="100000"/>
              </a:lnSpc>
              <a:spcBef>
                <a:spcPts val="600"/>
              </a:spcBef>
              <a:buClr>
                <a:srgbClr val="32B496"/>
              </a:buClr>
              <a:buSzPct val="75000"/>
              <a:buFont typeface="Arial"/>
              <a:buChar char="►"/>
            </a:pPr>
            <a:r>
              <a:rPr lang="en-GB" sz="1400" dirty="0">
                <a:solidFill>
                  <a:srgbClr val="2B2B2B"/>
                </a:solidFill>
                <a:latin typeface="Calibri"/>
                <a:cs typeface="Calibri"/>
              </a:rPr>
              <a:t>The odd/even oscillation comes from the strike sitting on or between nodes at expiry.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18056546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  <wetp:taskpane dockstate="right" visibility="0" width="350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96A9775F-8699-F545-92F2-0B137BC89DDD}">
  <we:reference id="wa200010725" version="1.0.0.1" store="en-US" storeType="OMEX"/>
  <we:alternateReferences>
    <we:reference id="WA200010725" version="1.0.0.1" store="" storeType="OMEX"/>
  </we:alternateReferences>
  <we:properties>
    <we:property name="claude.fileId" value="&quot;f01e951f-7a63-41ac-b7e3-542cb459ce9c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ED88F4F6-7B22-F347-8584-904CA7DA21BE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87166770-9c85-4aa1-bac2-703e0ffd7455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1833</TotalTime>
  <Words>3963</Words>
  <Application>Microsoft Macintosh PowerPoint</Application>
  <PresentationFormat>Widescreen</PresentationFormat>
  <Paragraphs>385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Case Presentation</dc:title>
  <dc:subject>PptxGenJS Presentation</dc:subject>
  <dc:creator>Devadutt Nair</dc:creator>
  <cp:lastModifiedBy>Tim Hirndorf</cp:lastModifiedBy>
  <cp:revision>4</cp:revision>
  <dcterms:created xsi:type="dcterms:W3CDTF">2026-09-15T22:33:24Z</dcterms:created>
  <dcterms:modified xsi:type="dcterms:W3CDTF">2026-10-13T15:25:49Z</dcterms:modified>
</cp:coreProperties>
</file>